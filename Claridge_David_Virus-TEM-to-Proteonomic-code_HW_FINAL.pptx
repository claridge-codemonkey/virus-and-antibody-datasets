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6"/>
  </p:notesMasterIdLst>
  <p:sldIdLst>
    <p:sldId id="256" r:id="rId2"/>
    <p:sldId id="257" r:id="rId3"/>
    <p:sldId id="293" r:id="rId4"/>
    <p:sldId id="294" r:id="rId5"/>
    <p:sldId id="258" r:id="rId6"/>
    <p:sldId id="297" r:id="rId7"/>
    <p:sldId id="298" r:id="rId8"/>
    <p:sldId id="300" r:id="rId9"/>
    <p:sldId id="302" r:id="rId10"/>
    <p:sldId id="303" r:id="rId11"/>
    <p:sldId id="304" r:id="rId12"/>
    <p:sldId id="305" r:id="rId13"/>
    <p:sldId id="306" r:id="rId14"/>
    <p:sldId id="307" r:id="rId15"/>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 userDrawn="1">
          <p15:clr>
            <a:srgbClr val="A4A3A4"/>
          </p15:clr>
        </p15:guide>
        <p15:guide id="2" pos="11460" userDrawn="1">
          <p15:clr>
            <a:srgbClr val="A4A3A4"/>
          </p15:clr>
        </p15:guide>
        <p15:guide id="4" orient="horz" pos="2696" userDrawn="1">
          <p15:clr>
            <a:srgbClr val="A4A3A4"/>
          </p15:clr>
        </p15:guide>
        <p15:guide id="5" pos="612" userDrawn="1">
          <p15:clr>
            <a:srgbClr val="A4A3A4"/>
          </p15:clr>
        </p15:guide>
        <p15:guide id="6" pos="60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E3B525"/>
    <a:srgbClr val="009EF3"/>
    <a:srgbClr val="FFA1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69C7A6-D536-4D0C-B487-9642FFA3F98C}" v="6" dt="2026-05-19T02:32:27.02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82" autoAdjust="0"/>
  </p:normalViewPr>
  <p:slideViewPr>
    <p:cSldViewPr>
      <p:cViewPr varScale="1">
        <p:scale>
          <a:sx n="48" d="100"/>
          <a:sy n="48" d="100"/>
        </p:scale>
        <p:origin x="332" y="32"/>
      </p:cViewPr>
      <p:guideLst>
        <p:guide orient="horz" pos="344"/>
        <p:guide pos="11460"/>
        <p:guide orient="horz" pos="2696"/>
        <p:guide pos="612"/>
        <p:guide pos="608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Claridge" userId="fa255c5a7ff38349" providerId="LiveId" clId="{BF0E6583-CABE-411A-A960-3268D20E7054}"/>
    <pc:docChg chg="undo custSel addSld modSld">
      <pc:chgData name="David Claridge" userId="fa255c5a7ff38349" providerId="LiveId" clId="{BF0E6583-CABE-411A-A960-3268D20E7054}" dt="2026-05-19T02:35:44.820" v="1429" actId="20577"/>
      <pc:docMkLst>
        <pc:docMk/>
      </pc:docMkLst>
      <pc:sldChg chg="delSp modSp mod">
        <pc:chgData name="David Claridge" userId="fa255c5a7ff38349" providerId="LiveId" clId="{BF0E6583-CABE-411A-A960-3268D20E7054}" dt="2026-05-18T15:58:14.756" v="8"/>
        <pc:sldMkLst>
          <pc:docMk/>
          <pc:sldMk cId="0" sldId="256"/>
        </pc:sldMkLst>
        <pc:spChg chg="mod">
          <ac:chgData name="David Claridge" userId="fa255c5a7ff38349" providerId="LiveId" clId="{BF0E6583-CABE-411A-A960-3268D20E7054}" dt="2026-05-18T15:57:59.462" v="2" actId="1076"/>
          <ac:spMkLst>
            <pc:docMk/>
            <pc:sldMk cId="0" sldId="256"/>
            <ac:spMk id="17" creationId="{6630419D-D18C-4282-9367-67083DE7D733}"/>
          </ac:spMkLst>
        </pc:spChg>
        <pc:spChg chg="del mod">
          <ac:chgData name="David Claridge" userId="fa255c5a7ff38349" providerId="LiveId" clId="{BF0E6583-CABE-411A-A960-3268D20E7054}" dt="2026-05-18T15:58:14.755" v="6" actId="478"/>
          <ac:spMkLst>
            <pc:docMk/>
            <pc:sldMk cId="0" sldId="256"/>
            <ac:spMk id="26" creationId="{00000000-0000-0000-0000-000000000000}"/>
          </ac:spMkLst>
        </pc:spChg>
        <pc:spChg chg="del mod">
          <ac:chgData name="David Claridge" userId="fa255c5a7ff38349" providerId="LiveId" clId="{BF0E6583-CABE-411A-A960-3268D20E7054}" dt="2026-05-18T15:58:14.756" v="8"/>
          <ac:spMkLst>
            <pc:docMk/>
            <pc:sldMk cId="0" sldId="256"/>
            <ac:spMk id="27" creationId="{00000000-0000-0000-0000-000000000000}"/>
          </ac:spMkLst>
        </pc:spChg>
      </pc:sldChg>
      <pc:sldChg chg="addSp delSp modSp mod">
        <pc:chgData name="David Claridge" userId="fa255c5a7ff38349" providerId="LiveId" clId="{BF0E6583-CABE-411A-A960-3268D20E7054}" dt="2026-05-19T02:20:46.158" v="789" actId="478"/>
        <pc:sldMkLst>
          <pc:docMk/>
          <pc:sldMk cId="0" sldId="258"/>
        </pc:sldMkLst>
        <pc:spChg chg="del mod">
          <ac:chgData name="David Claridge" userId="fa255c5a7ff38349" providerId="LiveId" clId="{BF0E6583-CABE-411A-A960-3268D20E7054}" dt="2026-05-19T02:07:43.208" v="773"/>
          <ac:spMkLst>
            <pc:docMk/>
            <pc:sldMk cId="0" sldId="258"/>
            <ac:spMk id="26" creationId="{00000000-0000-0000-0000-000000000000}"/>
          </ac:spMkLst>
        </pc:spChg>
        <pc:picChg chg="add del mod">
          <ac:chgData name="David Claridge" userId="fa255c5a7ff38349" providerId="LiveId" clId="{BF0E6583-CABE-411A-A960-3268D20E7054}" dt="2026-05-19T02:20:46.158" v="789" actId="478"/>
          <ac:picMkLst>
            <pc:docMk/>
            <pc:sldMk cId="0" sldId="258"/>
            <ac:picMk id="5" creationId="{54725367-B618-CDA7-8E7C-5BD714DEE42F}"/>
          </ac:picMkLst>
        </pc:picChg>
      </pc:sldChg>
      <pc:sldChg chg="delSp modSp mod">
        <pc:chgData name="David Claridge" userId="fa255c5a7ff38349" providerId="LiveId" clId="{BF0E6583-CABE-411A-A960-3268D20E7054}" dt="2026-05-19T02:08:04.770" v="785"/>
        <pc:sldMkLst>
          <pc:docMk/>
          <pc:sldMk cId="2184774212" sldId="293"/>
        </pc:sldMkLst>
        <pc:spChg chg="del mod">
          <ac:chgData name="David Claridge" userId="fa255c5a7ff38349" providerId="LiveId" clId="{BF0E6583-CABE-411A-A960-3268D20E7054}" dt="2026-05-19T02:08:04.770" v="785"/>
          <ac:spMkLst>
            <pc:docMk/>
            <pc:sldMk cId="2184774212" sldId="293"/>
            <ac:spMk id="28" creationId="{00000000-0000-0000-0000-000000000000}"/>
          </ac:spMkLst>
        </pc:spChg>
        <pc:spChg chg="del mod">
          <ac:chgData name="David Claridge" userId="fa255c5a7ff38349" providerId="LiveId" clId="{BF0E6583-CABE-411A-A960-3268D20E7054}" dt="2026-05-19T02:08:04.769" v="783"/>
          <ac:spMkLst>
            <pc:docMk/>
            <pc:sldMk cId="2184774212" sldId="293"/>
            <ac:spMk id="29" creationId="{00000000-0000-0000-0000-000000000000}"/>
          </ac:spMkLst>
        </pc:spChg>
      </pc:sldChg>
      <pc:sldChg chg="modSp mod">
        <pc:chgData name="David Claridge" userId="fa255c5a7ff38349" providerId="LiveId" clId="{BF0E6583-CABE-411A-A960-3268D20E7054}" dt="2026-05-19T02:32:52.949" v="1235" actId="255"/>
        <pc:sldMkLst>
          <pc:docMk/>
          <pc:sldMk cId="3556421662" sldId="294"/>
        </pc:sldMkLst>
        <pc:spChg chg="mod">
          <ac:chgData name="David Claridge" userId="fa255c5a7ff38349" providerId="LiveId" clId="{BF0E6583-CABE-411A-A960-3268D20E7054}" dt="2026-05-19T02:32:52.949" v="1235" actId="255"/>
          <ac:spMkLst>
            <pc:docMk/>
            <pc:sldMk cId="3556421662" sldId="294"/>
            <ac:spMk id="12" creationId="{4B00ADBE-6249-46EB-B9DA-3742A4C1861C}"/>
          </ac:spMkLst>
        </pc:spChg>
        <pc:graphicFrameChg chg="modGraphic">
          <ac:chgData name="David Claridge" userId="fa255c5a7ff38349" providerId="LiveId" clId="{BF0E6583-CABE-411A-A960-3268D20E7054}" dt="2026-05-18T15:58:45.756" v="9" actId="339"/>
          <ac:graphicFrameMkLst>
            <pc:docMk/>
            <pc:sldMk cId="3556421662" sldId="294"/>
            <ac:graphicFrameMk id="2" creationId="{212CDCDA-83EA-41D8-A074-B44FA3019B31}"/>
          </ac:graphicFrameMkLst>
        </pc:graphicFrameChg>
      </pc:sldChg>
      <pc:sldChg chg="addSp modSp mod">
        <pc:chgData name="David Claridge" userId="fa255c5a7ff38349" providerId="LiveId" clId="{BF0E6583-CABE-411A-A960-3268D20E7054}" dt="2026-05-19T02:25:24.432" v="927" actId="14100"/>
        <pc:sldMkLst>
          <pc:docMk/>
          <pc:sldMk cId="481872005" sldId="297"/>
        </pc:sldMkLst>
        <pc:spChg chg="add mod">
          <ac:chgData name="David Claridge" userId="fa255c5a7ff38349" providerId="LiveId" clId="{BF0E6583-CABE-411A-A960-3268D20E7054}" dt="2026-05-19T02:25:15.895" v="925" actId="20577"/>
          <ac:spMkLst>
            <pc:docMk/>
            <pc:sldMk cId="481872005" sldId="297"/>
            <ac:spMk id="5" creationId="{DB1C2171-9D7A-F5D0-0862-17DB7AD23534}"/>
          </ac:spMkLst>
        </pc:spChg>
        <pc:spChg chg="mod">
          <ac:chgData name="David Claridge" userId="fa255c5a7ff38349" providerId="LiveId" clId="{BF0E6583-CABE-411A-A960-3268D20E7054}" dt="2026-05-19T02:24:09.202" v="797" actId="20577"/>
          <ac:spMkLst>
            <pc:docMk/>
            <pc:sldMk cId="481872005" sldId="297"/>
            <ac:spMk id="9" creationId="{5BAED371-CEB3-9176-E76D-7543B27A5BFA}"/>
          </ac:spMkLst>
        </pc:spChg>
        <pc:spChg chg="mod">
          <ac:chgData name="David Claridge" userId="fa255c5a7ff38349" providerId="LiveId" clId="{BF0E6583-CABE-411A-A960-3268D20E7054}" dt="2026-05-19T02:24:12.632" v="799" actId="20577"/>
          <ac:spMkLst>
            <pc:docMk/>
            <pc:sldMk cId="481872005" sldId="297"/>
            <ac:spMk id="10" creationId="{D9131119-BCA9-BBA5-C4CA-4392B22D7556}"/>
          </ac:spMkLst>
        </pc:spChg>
        <pc:spChg chg="mod">
          <ac:chgData name="David Claridge" userId="fa255c5a7ff38349" providerId="LiveId" clId="{BF0E6583-CABE-411A-A960-3268D20E7054}" dt="2026-05-19T02:05:59.128" v="754" actId="20577"/>
          <ac:spMkLst>
            <pc:docMk/>
            <pc:sldMk cId="481872005" sldId="297"/>
            <ac:spMk id="12" creationId="{4B00ADBE-6249-46EB-B9DA-3742A4C1861C}"/>
          </ac:spMkLst>
        </pc:spChg>
        <pc:picChg chg="add mod">
          <ac:chgData name="David Claridge" userId="fa255c5a7ff38349" providerId="LiveId" clId="{BF0E6583-CABE-411A-A960-3268D20E7054}" dt="2026-05-19T02:25:24.432" v="927" actId="14100"/>
          <ac:picMkLst>
            <pc:docMk/>
            <pc:sldMk cId="481872005" sldId="297"/>
            <ac:picMk id="4" creationId="{9F381831-A1E5-8DEE-8568-CCC06F126B7C}"/>
          </ac:picMkLst>
        </pc:picChg>
        <pc:picChg chg="mod">
          <ac:chgData name="David Claridge" userId="fa255c5a7ff38349" providerId="LiveId" clId="{BF0E6583-CABE-411A-A960-3268D20E7054}" dt="2026-05-19T02:20:57.117" v="790" actId="1076"/>
          <ac:picMkLst>
            <pc:docMk/>
            <pc:sldMk cId="481872005" sldId="297"/>
            <ac:picMk id="8" creationId="{0E9884D0-6BAD-2115-039A-1CFCA0FEB774}"/>
          </ac:picMkLst>
        </pc:picChg>
      </pc:sldChg>
      <pc:sldChg chg="addSp modSp mod">
        <pc:chgData name="David Claridge" userId="fa255c5a7ff38349" providerId="LiveId" clId="{BF0E6583-CABE-411A-A960-3268D20E7054}" dt="2026-05-19T02:35:44.820" v="1429" actId="20577"/>
        <pc:sldMkLst>
          <pc:docMk/>
          <pc:sldMk cId="2396656810" sldId="298"/>
        </pc:sldMkLst>
        <pc:spChg chg="add mod">
          <ac:chgData name="David Claridge" userId="fa255c5a7ff38349" providerId="LiveId" clId="{BF0E6583-CABE-411A-A960-3268D20E7054}" dt="2026-05-19T02:32:03.474" v="1227" actId="20577"/>
          <ac:spMkLst>
            <pc:docMk/>
            <pc:sldMk cId="2396656810" sldId="298"/>
            <ac:spMk id="3" creationId="{EA623F31-1A68-7014-C402-E0E0D3D11B0F}"/>
          </ac:spMkLst>
        </pc:spChg>
        <pc:spChg chg="mod">
          <ac:chgData name="David Claridge" userId="fa255c5a7ff38349" providerId="LiveId" clId="{BF0E6583-CABE-411A-A960-3268D20E7054}" dt="2026-05-19T02:35:44.820" v="1429" actId="20577"/>
          <ac:spMkLst>
            <pc:docMk/>
            <pc:sldMk cId="2396656810" sldId="298"/>
            <ac:spMk id="12" creationId="{4B00ADBE-6249-46EB-B9DA-3742A4C1861C}"/>
          </ac:spMkLst>
        </pc:spChg>
        <pc:spChg chg="mod">
          <ac:chgData name="David Claridge" userId="fa255c5a7ff38349" providerId="LiveId" clId="{BF0E6583-CABE-411A-A960-3268D20E7054}" dt="2026-05-19T02:25:56.785" v="929" actId="20577"/>
          <ac:spMkLst>
            <pc:docMk/>
            <pc:sldMk cId="2396656810" sldId="298"/>
            <ac:spMk id="27" creationId="{00000000-0000-0000-0000-000000000000}"/>
          </ac:spMkLst>
        </pc:spChg>
      </pc:sldChg>
      <pc:sldChg chg="modSp mod">
        <pc:chgData name="David Claridge" userId="fa255c5a7ff38349" providerId="LiveId" clId="{BF0E6583-CABE-411A-A960-3268D20E7054}" dt="2026-05-19T02:34:55.296" v="1330" actId="20577"/>
        <pc:sldMkLst>
          <pc:docMk/>
          <pc:sldMk cId="1234192476" sldId="300"/>
        </pc:sldMkLst>
        <pc:spChg chg="mod">
          <ac:chgData name="David Claridge" userId="fa255c5a7ff38349" providerId="LiveId" clId="{BF0E6583-CABE-411A-A960-3268D20E7054}" dt="2026-05-19T02:34:55.296" v="1330" actId="20577"/>
          <ac:spMkLst>
            <pc:docMk/>
            <pc:sldMk cId="1234192476" sldId="300"/>
            <ac:spMk id="12" creationId="{4B00ADBE-6249-46EB-B9DA-3742A4C1861C}"/>
          </ac:spMkLst>
        </pc:spChg>
        <pc:spChg chg="mod">
          <ac:chgData name="David Claridge" userId="fa255c5a7ff38349" providerId="LiveId" clId="{BF0E6583-CABE-411A-A960-3268D20E7054}" dt="2026-05-19T02:30:41.014" v="1170" actId="1076"/>
          <ac:spMkLst>
            <pc:docMk/>
            <pc:sldMk cId="1234192476" sldId="300"/>
            <ac:spMk id="27" creationId="{00000000-0000-0000-0000-000000000000}"/>
          </ac:spMkLst>
        </pc:spChg>
      </pc:sldChg>
      <pc:sldChg chg="modSp add mod">
        <pc:chgData name="David Claridge" userId="fa255c5a7ff38349" providerId="LiveId" clId="{BF0E6583-CABE-411A-A960-3268D20E7054}" dt="2026-05-19T01:59:57.088" v="296" actId="20577"/>
        <pc:sldMkLst>
          <pc:docMk/>
          <pc:sldMk cId="1847693213" sldId="306"/>
        </pc:sldMkLst>
        <pc:spChg chg="mod">
          <ac:chgData name="David Claridge" userId="fa255c5a7ff38349" providerId="LiveId" clId="{BF0E6583-CABE-411A-A960-3268D20E7054}" dt="2026-05-19T01:56:59.196" v="32" actId="20577"/>
          <ac:spMkLst>
            <pc:docMk/>
            <pc:sldMk cId="1847693213" sldId="306"/>
            <ac:spMk id="2" creationId="{B6A2D31D-BE99-CC77-E7BE-FD5AF72CB098}"/>
          </ac:spMkLst>
        </pc:spChg>
        <pc:spChg chg="mod">
          <ac:chgData name="David Claridge" userId="fa255c5a7ff38349" providerId="LiveId" clId="{BF0E6583-CABE-411A-A960-3268D20E7054}" dt="2026-05-19T01:59:57.088" v="296" actId="20577"/>
          <ac:spMkLst>
            <pc:docMk/>
            <pc:sldMk cId="1847693213" sldId="306"/>
            <ac:spMk id="3" creationId="{F5EFDF92-CEB6-76F7-38EB-5C28A4D49CB1}"/>
          </ac:spMkLst>
        </pc:spChg>
      </pc:sldChg>
      <pc:sldChg chg="modSp add mod">
        <pc:chgData name="David Claridge" userId="fa255c5a7ff38349" providerId="LiveId" clId="{BF0E6583-CABE-411A-A960-3268D20E7054}" dt="2026-05-19T02:03:31.790" v="725" actId="20577"/>
        <pc:sldMkLst>
          <pc:docMk/>
          <pc:sldMk cId="4073455669" sldId="307"/>
        </pc:sldMkLst>
        <pc:spChg chg="mod">
          <ac:chgData name="David Claridge" userId="fa255c5a7ff38349" providerId="LiveId" clId="{BF0E6583-CABE-411A-A960-3268D20E7054}" dt="2026-05-19T02:00:09.416" v="299" actId="20577"/>
          <ac:spMkLst>
            <pc:docMk/>
            <pc:sldMk cId="4073455669" sldId="307"/>
            <ac:spMk id="2" creationId="{0160AEF7-295A-120B-7E67-ED0539332230}"/>
          </ac:spMkLst>
        </pc:spChg>
        <pc:spChg chg="mod">
          <ac:chgData name="David Claridge" userId="fa255c5a7ff38349" providerId="LiveId" clId="{BF0E6583-CABE-411A-A960-3268D20E7054}" dt="2026-05-19T02:03:31.790" v="725" actId="20577"/>
          <ac:spMkLst>
            <pc:docMk/>
            <pc:sldMk cId="4073455669" sldId="307"/>
            <ac:spMk id="3" creationId="{908D192D-B862-89E8-E01C-605E53E7BE4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18.05.2026</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44073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76289" y="1750055"/>
            <a:ext cx="14257735" cy="3722887"/>
          </a:xfrm>
        </p:spPr>
        <p:txBody>
          <a:bodyPr anchor="b"/>
          <a:lstStyle>
            <a:lvl1pPr algn="ctr">
              <a:defRPr sz="9355"/>
            </a:lvl1pPr>
          </a:lstStyle>
          <a:p>
            <a:r>
              <a:rPr lang="en-US"/>
              <a:t>Click to edit Master title style</a:t>
            </a:r>
            <a:endParaRPr lang="en-US" dirty="0"/>
          </a:p>
        </p:txBody>
      </p:sp>
      <p:sp>
        <p:nvSpPr>
          <p:cNvPr id="3" name="Subtitle 2"/>
          <p:cNvSpPr>
            <a:spLocks noGrp="1"/>
          </p:cNvSpPr>
          <p:nvPr>
            <p:ph type="subTitle" idx="1"/>
          </p:nvPr>
        </p:nvSpPr>
        <p:spPr>
          <a:xfrm>
            <a:off x="2376289" y="5616511"/>
            <a:ext cx="14257735" cy="2581762"/>
          </a:xfrm>
        </p:spPr>
        <p:txBody>
          <a:bodyPr/>
          <a:lstStyle>
            <a:lvl1pPr marL="0" indent="0" algn="ctr">
              <a:buNone/>
              <a:defRPr sz="3742"/>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72955F-AB8E-45D1-810B-90B612421826}"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32969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2DD23-A30E-4D74-ABD7-02CC6663F969}"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3954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7058" y="2665925"/>
            <a:ext cx="16396395" cy="4448157"/>
          </a:xfrm>
        </p:spPr>
        <p:txBody>
          <a:bodyPr anchor="b"/>
          <a:lstStyle>
            <a:lvl1pPr>
              <a:defRPr sz="9355"/>
            </a:lvl1pPr>
          </a:lstStyle>
          <a:p>
            <a:r>
              <a:rPr lang="en-US"/>
              <a:t>Click to edit Master title style</a:t>
            </a:r>
            <a:endParaRPr lang="en-US" dirty="0"/>
          </a:p>
        </p:txBody>
      </p:sp>
      <p:sp>
        <p:nvSpPr>
          <p:cNvPr id="3" name="Text Placeholder 2"/>
          <p:cNvSpPr>
            <a:spLocks noGrp="1"/>
          </p:cNvSpPr>
          <p:nvPr>
            <p:ph type="body" idx="1"/>
          </p:nvPr>
        </p:nvSpPr>
        <p:spPr>
          <a:xfrm>
            <a:off x="1297058" y="7156164"/>
            <a:ext cx="16396395" cy="2339180"/>
          </a:xfrm>
        </p:spPr>
        <p:txBody>
          <a:bodyPr/>
          <a:lstStyle>
            <a:lvl1pPr marL="0" indent="0">
              <a:buNone/>
              <a:defRPr sz="3742">
                <a:solidFill>
                  <a:schemeClr val="tx1">
                    <a:tint val="75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8EB115-E192-4B72-AE43-7D08DAF1C080}"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17231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06959"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3971"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7FD9B6-5A85-4BAD-9997-281F90424B29}"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795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9435" y="569326"/>
            <a:ext cx="16396395"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9436" y="2621369"/>
            <a:ext cx="8042253"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4" name="Content Placeholder 3"/>
          <p:cNvSpPr>
            <a:spLocks noGrp="1"/>
          </p:cNvSpPr>
          <p:nvPr>
            <p:ph sz="half" idx="2"/>
          </p:nvPr>
        </p:nvSpPr>
        <p:spPr>
          <a:xfrm>
            <a:off x="1309436" y="3906061"/>
            <a:ext cx="80422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23971" y="2621369"/>
            <a:ext cx="8081859"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6" name="Content Placeholder 5"/>
          <p:cNvSpPr>
            <a:spLocks noGrp="1"/>
          </p:cNvSpPr>
          <p:nvPr>
            <p:ph sz="quarter" idx="4"/>
          </p:nvPr>
        </p:nvSpPr>
        <p:spPr>
          <a:xfrm>
            <a:off x="9623971" y="3906061"/>
            <a:ext cx="8081859"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037518-5BAF-496B-AA91-2BAC983066B9}" type="datetime1">
              <a:rPr lang="en-US" smtClean="0"/>
              <a:t>5/18/2026</a:t>
            </a:fld>
            <a:endParaRPr lang="en-US" dirty="0"/>
          </a:p>
        </p:txBody>
      </p:sp>
      <p:sp>
        <p:nvSpPr>
          <p:cNvPr id="8" name="Footer Placeholder 7"/>
          <p:cNvSpPr>
            <a:spLocks noGrp="1"/>
          </p:cNvSpPr>
          <p:nvPr>
            <p:ph type="ftr" sz="quarter" idx="11"/>
          </p:nvPr>
        </p:nvSpPr>
        <p:spPr/>
        <p:txBody>
          <a:bodyPr/>
          <a:lstStyle/>
          <a:p>
            <a:endParaRPr lang="cs-CZ"/>
          </a:p>
        </p:txBody>
      </p:sp>
      <p:sp>
        <p:nvSpPr>
          <p:cNvPr id="9" name="Slide Number Placeholder 8"/>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29077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067535-4686-4B93-8BF7-C24281F3AB61}" type="datetime1">
              <a:rPr lang="en-US" smtClean="0"/>
              <a:t>5/18/2026</a:t>
            </a:fld>
            <a:endParaRPr lang="en-US" dirty="0"/>
          </a:p>
        </p:txBody>
      </p:sp>
      <p:sp>
        <p:nvSpPr>
          <p:cNvPr id="4" name="Footer Placeholder 3"/>
          <p:cNvSpPr>
            <a:spLocks noGrp="1"/>
          </p:cNvSpPr>
          <p:nvPr>
            <p:ph type="ftr" sz="quarter" idx="11"/>
          </p:nvPr>
        </p:nvSpPr>
        <p:spPr/>
        <p:txBody>
          <a:bodyPr/>
          <a:lstStyle/>
          <a:p>
            <a:endParaRPr lang="cs-CZ"/>
          </a:p>
        </p:txBody>
      </p:sp>
      <p:sp>
        <p:nvSpPr>
          <p:cNvPr id="5" name="Slide Number Placeholder 4"/>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90662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0188F-7AF6-4BF7-8668-FB0D5AF95D0C}" type="datetime1">
              <a:rPr lang="en-US" smtClean="0"/>
              <a:t>5/18/2026</a:t>
            </a:fld>
            <a:endParaRPr lang="en-US" dirty="0"/>
          </a:p>
        </p:txBody>
      </p:sp>
      <p:sp>
        <p:nvSpPr>
          <p:cNvPr id="3" name="Footer Placeholder 2"/>
          <p:cNvSpPr>
            <a:spLocks noGrp="1"/>
          </p:cNvSpPr>
          <p:nvPr>
            <p:ph type="ftr" sz="quarter" idx="11"/>
          </p:nvPr>
        </p:nvSpPr>
        <p:spPr/>
        <p:txBody>
          <a:bodyPr/>
          <a:lstStyle/>
          <a:p>
            <a:endParaRPr lang="cs-CZ"/>
          </a:p>
        </p:txBody>
      </p:sp>
      <p:sp>
        <p:nvSpPr>
          <p:cNvPr id="4" name="Slide Number Placeholder 3"/>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632000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8081859" y="1539652"/>
            <a:ext cx="9623971" cy="7599245"/>
          </a:xfrm>
        </p:spPr>
        <p:txBody>
          <a:bodyPr/>
          <a:lstStyle>
            <a:lvl1pPr>
              <a:defRPr sz="4989"/>
            </a:lvl1pPr>
            <a:lvl2pPr>
              <a:defRPr sz="4366"/>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B6EC9CC1-A994-4ABC-9B07-7EF48BDCC5C8}"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44004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8081859" y="1539652"/>
            <a:ext cx="9623971" cy="7599245"/>
          </a:xfrm>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0CB54DC4-3B6E-4369-A04B-F8C9A55FEE89}" type="datetime1">
              <a:rPr lang="en-US" smtClean="0"/>
              <a:t>5/18/2026</a:t>
            </a:fld>
            <a:endParaRPr lang="en-US" dirty="0"/>
          </a:p>
        </p:txBody>
      </p:sp>
      <p:sp>
        <p:nvSpPr>
          <p:cNvPr id="6" name="Footer Placeholder 5"/>
          <p:cNvSpPr>
            <a:spLocks noGrp="1"/>
          </p:cNvSpPr>
          <p:nvPr>
            <p:ph type="ftr" sz="quarter" idx="11"/>
          </p:nvPr>
        </p:nvSpPr>
        <p:spPr/>
        <p:txBody>
          <a:bodyPr/>
          <a:lstStyle/>
          <a:p>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78924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FF9F3-A086-4180-A8A0-9CFD51CAD015}"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3083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04255" y="569325"/>
            <a:ext cx="4099099"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06959" y="569325"/>
            <a:ext cx="12059667"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613626-C194-46CF-A023-08376ACF5140}" type="datetime1">
              <a:rPr lang="en-US" smtClean="0"/>
              <a:t>5/18/2026</a:t>
            </a:fld>
            <a:endParaRPr lang="en-US" dirty="0"/>
          </a:p>
        </p:txBody>
      </p:sp>
      <p:sp>
        <p:nvSpPr>
          <p:cNvPr id="5" name="Footer Placeholder 4"/>
          <p:cNvSpPr>
            <a:spLocks noGrp="1"/>
          </p:cNvSpPr>
          <p:nvPr>
            <p:ph type="ftr" sz="quarter" idx="11"/>
          </p:nvPr>
        </p:nvSpPr>
        <p:spPr/>
        <p:txBody>
          <a:bodyPr/>
          <a:lstStyle/>
          <a:p>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52863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06959" y="569326"/>
            <a:ext cx="16396395"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06959" y="2846623"/>
            <a:ext cx="16396395"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6959" y="9911198"/>
            <a:ext cx="4277320" cy="569325"/>
          </a:xfrm>
          <a:prstGeom prst="rect">
            <a:avLst/>
          </a:prstGeom>
        </p:spPr>
        <p:txBody>
          <a:bodyPr vert="horz" lIns="91440" tIns="45720" rIns="91440" bIns="45720" rtlCol="0" anchor="ctr"/>
          <a:lstStyle>
            <a:lvl1pPr algn="l">
              <a:defRPr sz="1871">
                <a:solidFill>
                  <a:schemeClr val="tx1">
                    <a:tint val="75000"/>
                  </a:schemeClr>
                </a:solidFill>
              </a:defRPr>
            </a:lvl1pPr>
          </a:lstStyle>
          <a:p>
            <a:fld id="{F96CA4E8-37F3-478A-8642-A4EC1C3139F6}" type="datetime1">
              <a:rPr lang="en-US" smtClean="0"/>
              <a:t>5/18/2026</a:t>
            </a:fld>
            <a:endParaRPr lang="en-US" dirty="0"/>
          </a:p>
        </p:txBody>
      </p:sp>
      <p:sp>
        <p:nvSpPr>
          <p:cNvPr id="5" name="Footer Placeholder 4"/>
          <p:cNvSpPr>
            <a:spLocks noGrp="1"/>
          </p:cNvSpPr>
          <p:nvPr>
            <p:ph type="ftr" sz="quarter" idx="3"/>
          </p:nvPr>
        </p:nvSpPr>
        <p:spPr>
          <a:xfrm>
            <a:off x="6297166" y="9911198"/>
            <a:ext cx="6415981" cy="569325"/>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cs-CZ"/>
          </a:p>
        </p:txBody>
      </p:sp>
      <p:sp>
        <p:nvSpPr>
          <p:cNvPr id="6" name="Slide Number Placeholder 5"/>
          <p:cNvSpPr>
            <a:spLocks noGrp="1"/>
          </p:cNvSpPr>
          <p:nvPr>
            <p:ph type="sldNum" sz="quarter" idx="4"/>
          </p:nvPr>
        </p:nvSpPr>
        <p:spPr>
          <a:xfrm>
            <a:off x="13426034" y="9911198"/>
            <a:ext cx="4277320" cy="569325"/>
          </a:xfrm>
          <a:prstGeom prst="rect">
            <a:avLst/>
          </a:prstGeom>
        </p:spPr>
        <p:txBody>
          <a:bodyPr vert="horz" lIns="91440" tIns="45720" rIns="91440" bIns="45720" rtlCol="0" anchor="ctr"/>
          <a:lstStyle>
            <a:lvl1pPr algn="r">
              <a:defRPr sz="1871">
                <a:solidFill>
                  <a:schemeClr val="tx1">
                    <a:tint val="75000"/>
                  </a:schemeClr>
                </a:solidFill>
              </a:defRPr>
            </a:lvl1pPr>
          </a:lstStyle>
          <a:p>
            <a:fld id="{B6F15528-21DE-4FAA-801E-634DDDAF4B2B}" type="slidenum">
              <a:rPr lang="cs-CZ" smtClean="0"/>
              <a:t>‹#›</a:t>
            </a:fld>
            <a:endParaRPr lang="cs-CZ"/>
          </a:p>
        </p:txBody>
      </p:sp>
    </p:spTree>
    <p:extLst>
      <p:ext uri="{BB962C8B-B14F-4D97-AF65-F5344CB8AC3E}">
        <p14:creationId xmlns:p14="http://schemas.microsoft.com/office/powerpoint/2010/main" val="27116026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ftr="0" dt="0"/>
  <p:txStyles>
    <p:titleStyle>
      <a:lvl1pPr algn="l" defTabSz="1425732"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online.lifeliqe.com/app/scene/p_clov_virus_hiv"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7/06/relationships/model3d" Target="../media/model3d1.glb"/><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www.cdc.gov/museum/timeline/covid19.html" TargetMode="External"/><Relationship Id="rId3" Type="http://schemas.openxmlformats.org/officeDocument/2006/relationships/hyperlink" Target="https://papers.nips.cc/paper/2012/hash/c399862d3b9d6b76c8436e924a68c45b-Abstract.html" TargetMode="External"/><Relationship Id="rId7" Type="http://schemas.openxmlformats.org/officeDocument/2006/relationships/hyperlink" Target="https://opig.stats.ox.ac.uk/webapps/poxabdab/" TargetMode="External"/><Relationship Id="rId2" Type="http://schemas.openxmlformats.org/officeDocument/2006/relationships/hyperlink" Target="https://www.deeplearningbook.org/" TargetMode="External"/><Relationship Id="rId1" Type="http://schemas.openxmlformats.org/officeDocument/2006/relationships/slideLayout" Target="../slideLayouts/slideLayout2.xml"/><Relationship Id="rId6" Type="http://schemas.openxmlformats.org/officeDocument/2006/relationships/hyperlink" Target="https://www.rcsb.org/" TargetMode="External"/><Relationship Id="rId5" Type="http://schemas.openxmlformats.org/officeDocument/2006/relationships/hyperlink" Target="https://www.iedb.org/?utm_source=chatgpt.com" TargetMode="External"/><Relationship Id="rId4" Type="http://schemas.openxmlformats.org/officeDocument/2006/relationships/hyperlink" Target="https://www.sciencedirect.com/science/article/pii/S0169260721003928?utm_source=chatgpt.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p:nvPr/>
        </p:nvSpPr>
        <p:spPr>
          <a:xfrm>
            <a:off x="-4819" y="4312142"/>
            <a:ext cx="19010313" cy="6945503"/>
          </a:xfrm>
          <a:prstGeom prst="rect">
            <a:avLst/>
          </a:prstGeom>
          <a:blipFill>
            <a:blip r:embed="rId3" cstate="print"/>
            <a:stretch>
              <a:fillRect/>
            </a:stretch>
          </a:blipFill>
        </p:spPr>
        <p:txBody>
          <a:bodyPr wrap="square" lIns="0" tIns="0" rIns="0" bIns="0" rtlCol="0"/>
          <a:lstStyle/>
          <a:p>
            <a:r>
              <a:rPr sz="2200" b="1" dirty="0"/>
              <a:t>Virus-TEM-to-</a:t>
            </a:r>
            <a:r>
              <a:rPr sz="2200" b="1" dirty="0" err="1"/>
              <a:t>Proteonomic</a:t>
            </a:r>
            <a:r>
              <a:rPr sz="2200" b="1" dirty="0"/>
              <a:t> Code:
A Multimodal AI Pipeline for Viral Morphology and Antibody Sequence Generation
David Claridge
Team #: </a:t>
            </a:r>
            <a:r>
              <a:rPr lang="en-US" sz="2200" b="1" dirty="0"/>
              <a:t>[Not Received]</a:t>
            </a:r>
            <a:r>
              <a:rPr sz="2200" b="1" dirty="0"/>
              <a:t>
Course Section: </a:t>
            </a:r>
            <a:r>
              <a:rPr lang="en-US" sz="2200" b="1" dirty="0"/>
              <a:t>730ZA</a:t>
            </a:r>
            <a:r>
              <a:rPr sz="2200" b="1" dirty="0"/>
              <a:t>
</a:t>
            </a:r>
            <a:endParaRPr lang="en-US" dirty="0"/>
          </a:p>
        </p:txBody>
      </p:sp>
      <p:grpSp>
        <p:nvGrpSpPr>
          <p:cNvPr id="24" name="Group 23">
            <a:extLst>
              <a:ext uri="{FF2B5EF4-FFF2-40B4-BE49-F238E27FC236}">
                <a16:creationId xmlns:a16="http://schemas.microsoft.com/office/drawing/2014/main" id="{20F95502-65C6-482A-9B40-DDCB8DAA9D75}"/>
              </a:ext>
            </a:extLst>
          </p:cNvPr>
          <p:cNvGrpSpPr/>
          <p:nvPr/>
        </p:nvGrpSpPr>
        <p:grpSpPr>
          <a:xfrm>
            <a:off x="0" y="0"/>
            <a:ext cx="19010313" cy="1112119"/>
            <a:chOff x="-324644" y="2222500"/>
            <a:chExt cx="22261685" cy="1302327"/>
          </a:xfrm>
        </p:grpSpPr>
        <p:sp>
          <p:nvSpPr>
            <p:cNvPr id="2" name="object 2"/>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lang="en-US"/>
            </a:p>
          </p:txBody>
        </p:sp>
        <p:sp>
          <p:nvSpPr>
            <p:cNvPr id="3" name="object 3"/>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lang="en-US"/>
            </a:p>
          </p:txBody>
        </p:sp>
        <p:sp>
          <p:nvSpPr>
            <p:cNvPr id="22" name="object 2">
              <a:extLst>
                <a:ext uri="{FF2B5EF4-FFF2-40B4-BE49-F238E27FC236}">
                  <a16:creationId xmlns:a16="http://schemas.microsoft.com/office/drawing/2014/main" id="{3708B453-DDCE-42C1-9AB9-A8D5DDCA46A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lang="en-US"/>
            </a:p>
          </p:txBody>
        </p:sp>
        <p:sp>
          <p:nvSpPr>
            <p:cNvPr id="23" name="object 2">
              <a:extLst>
                <a:ext uri="{FF2B5EF4-FFF2-40B4-BE49-F238E27FC236}">
                  <a16:creationId xmlns:a16="http://schemas.microsoft.com/office/drawing/2014/main" id="{7D360C87-DA57-4F00-96B5-35199AD1165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lang="en-US"/>
            </a:p>
          </p:txBody>
        </p:sp>
      </p:grpSp>
      <p:sp>
        <p:nvSpPr>
          <p:cNvPr id="4" name="object 4"/>
          <p:cNvSpPr txBox="1"/>
          <p:nvPr/>
        </p:nvSpPr>
        <p:spPr>
          <a:xfrm>
            <a:off x="818356" y="317499"/>
            <a:ext cx="3835570" cy="505267"/>
          </a:xfrm>
          <a:prstGeom prst="rect">
            <a:avLst/>
          </a:prstGeom>
        </p:spPr>
        <p:txBody>
          <a:bodyPr vert="horz" wrap="square" lIns="0" tIns="12700" rIns="0" bIns="0" rtlCol="0">
            <a:spAutoFit/>
          </a:bodyPr>
          <a:lstStyle/>
          <a:p>
            <a:pPr marL="12700">
              <a:spcBef>
                <a:spcPts val="100"/>
              </a:spcBef>
            </a:pPr>
            <a:r>
              <a:rPr lang="en-US" sz="3200" dirty="0">
                <a:solidFill>
                  <a:schemeClr val="bg1"/>
                </a:solidFill>
                <a:cs typeface="Source Sans Pro Light"/>
              </a:rPr>
              <a:t>Adenovirus</a:t>
            </a:r>
          </a:p>
        </p:txBody>
      </p:sp>
      <p:sp>
        <p:nvSpPr>
          <p:cNvPr id="5" name="object 5"/>
          <p:cNvSpPr txBox="1"/>
          <p:nvPr/>
        </p:nvSpPr>
        <p:spPr>
          <a:xfrm>
            <a:off x="5428958" y="241300"/>
            <a:ext cx="5600198" cy="580928"/>
          </a:xfrm>
          <a:prstGeom prst="rect">
            <a:avLst/>
          </a:prstGeom>
          <a:noFill/>
        </p:spPr>
        <p:txBody>
          <a:bodyPr vert="horz" wrap="square" lIns="0" tIns="87630" rIns="0" bIns="0" rtlCol="0">
            <a:spAutoFit/>
          </a:bodyPr>
          <a:lstStyle/>
          <a:p>
            <a:pPr marL="495300">
              <a:spcBef>
                <a:spcPts val="690"/>
              </a:spcBef>
            </a:pPr>
            <a:r>
              <a:rPr lang="en-US" sz="3200" spc="-10" dirty="0">
                <a:solidFill>
                  <a:srgbClr val="FFFFFF"/>
                </a:solidFill>
                <a:cs typeface="Source Sans Pro Light"/>
              </a:rPr>
              <a:t>Orthopoxvirus</a:t>
            </a:r>
            <a:endParaRPr lang="en-US" sz="3200" dirty="0">
              <a:cs typeface="Source Sans Pro Light"/>
            </a:endParaRPr>
          </a:p>
        </p:txBody>
      </p:sp>
      <p:sp>
        <p:nvSpPr>
          <p:cNvPr id="6" name="object 6"/>
          <p:cNvSpPr txBox="1"/>
          <p:nvPr/>
        </p:nvSpPr>
        <p:spPr>
          <a:xfrm>
            <a:off x="10419556" y="241300"/>
            <a:ext cx="5600198" cy="580928"/>
          </a:xfrm>
          <a:prstGeom prst="rect">
            <a:avLst/>
          </a:prstGeom>
          <a:noFill/>
        </p:spPr>
        <p:txBody>
          <a:bodyPr vert="horz" wrap="square" lIns="0" tIns="87630" rIns="0" bIns="0" rtlCol="0">
            <a:spAutoFit/>
          </a:bodyPr>
          <a:lstStyle/>
          <a:p>
            <a:pPr marL="406400">
              <a:spcBef>
                <a:spcPts val="690"/>
              </a:spcBef>
            </a:pPr>
            <a:r>
              <a:rPr lang="en-US" sz="3200" spc="-5" dirty="0">
                <a:solidFill>
                  <a:srgbClr val="FFFFFF"/>
                </a:solidFill>
                <a:cs typeface="Source Sans Pro Light"/>
              </a:rPr>
              <a:t>Herpes Simplex</a:t>
            </a:r>
            <a:endParaRPr lang="en-US" sz="3200" dirty="0">
              <a:cs typeface="Source Sans Pro Light"/>
            </a:endParaRPr>
          </a:p>
        </p:txBody>
      </p:sp>
      <p:sp>
        <p:nvSpPr>
          <p:cNvPr id="7" name="object 7"/>
          <p:cNvSpPr txBox="1"/>
          <p:nvPr/>
        </p:nvSpPr>
        <p:spPr>
          <a:xfrm>
            <a:off x="15601156" y="317500"/>
            <a:ext cx="2785059" cy="505267"/>
          </a:xfrm>
          <a:prstGeom prst="rect">
            <a:avLst/>
          </a:prstGeom>
        </p:spPr>
        <p:txBody>
          <a:bodyPr vert="horz" wrap="square" lIns="0" tIns="12700" rIns="0" bIns="0" rtlCol="0">
            <a:spAutoFit/>
          </a:bodyPr>
          <a:lstStyle/>
          <a:p>
            <a:pPr marL="12700">
              <a:spcBef>
                <a:spcPts val="100"/>
              </a:spcBef>
            </a:pPr>
            <a:r>
              <a:rPr lang="en-US" sz="3200" spc="-15" dirty="0">
                <a:solidFill>
                  <a:srgbClr val="FFFFFF"/>
                </a:solidFill>
                <a:cs typeface="Source Sans Pro Light"/>
              </a:rPr>
              <a:t>Influenza</a:t>
            </a:r>
            <a:endParaRPr lang="en-US" sz="3200" dirty="0">
              <a:cs typeface="Source Sans Pro Light"/>
            </a:endParaRPr>
          </a:p>
        </p:txBody>
      </p:sp>
      <p:sp>
        <p:nvSpPr>
          <p:cNvPr id="19" name="object 19"/>
          <p:cNvSpPr/>
          <p:nvPr/>
        </p:nvSpPr>
        <p:spPr>
          <a:xfrm flipV="1">
            <a:off x="513556" y="4889497"/>
            <a:ext cx="9601200" cy="274319"/>
          </a:xfrm>
          <a:custGeom>
            <a:avLst/>
            <a:gdLst/>
            <a:ahLst/>
            <a:cxnLst/>
            <a:rect l="l" t="t" r="r" b="b"/>
            <a:pathLst>
              <a:path w="4686300">
                <a:moveTo>
                  <a:pt x="0" y="0"/>
                </a:moveTo>
                <a:lnTo>
                  <a:pt x="4686300" y="0"/>
                </a:lnTo>
              </a:path>
            </a:pathLst>
          </a:custGeom>
          <a:ln w="8466">
            <a:solidFill>
              <a:srgbClr val="002E8E"/>
            </a:solidFill>
          </a:ln>
        </p:spPr>
        <p:txBody>
          <a:bodyPr wrap="square" lIns="0" tIns="0" rIns="0" bIns="0" rtlCol="0"/>
          <a:lstStyle/>
          <a:p>
            <a:pPr algn="ctr"/>
            <a:endParaRPr lang="en-US"/>
          </a:p>
        </p:txBody>
      </p:sp>
      <p:sp>
        <p:nvSpPr>
          <p:cNvPr id="17" name="object 21">
            <a:hlinkClick r:id="rId4"/>
            <a:extLst>
              <a:ext uri="{FF2B5EF4-FFF2-40B4-BE49-F238E27FC236}">
                <a16:creationId xmlns:a16="http://schemas.microsoft.com/office/drawing/2014/main" id="{6630419D-D18C-4282-9367-67083DE7D733}"/>
              </a:ext>
            </a:extLst>
          </p:cNvPr>
          <p:cNvSpPr/>
          <p:nvPr/>
        </p:nvSpPr>
        <p:spPr>
          <a:xfrm>
            <a:off x="10846021" y="3262427"/>
            <a:ext cx="6005067" cy="6368186"/>
          </a:xfrm>
          <a:prstGeom prst="rect">
            <a:avLst/>
          </a:prstGeom>
          <a:blipFill>
            <a:blip r:embed="rId5" cstate="print"/>
            <a:stretch>
              <a:fillRect/>
            </a:stretch>
          </a:blipFill>
        </p:spPr>
        <p:txBody>
          <a:bodyPr wrap="square" lIns="0" tIns="0" rIns="0" bIns="0" rtlCol="0"/>
          <a:lstStyle/>
          <a:p>
            <a:endParaRPr lang="en-US"/>
          </a:p>
        </p:txBody>
      </p:sp>
      <p:sp>
        <p:nvSpPr>
          <p:cNvPr id="25" name="Rectangle 24">
            <a:extLst>
              <a:ext uri="{FF2B5EF4-FFF2-40B4-BE49-F238E27FC236}">
                <a16:creationId xmlns:a16="http://schemas.microsoft.com/office/drawing/2014/main" id="{A72260F6-849B-44D8-B5AF-BAF75AF6F24A}"/>
              </a:ext>
            </a:extLst>
          </p:cNvPr>
          <p:cNvSpPr/>
          <p:nvPr/>
        </p:nvSpPr>
        <p:spPr>
          <a:xfrm>
            <a:off x="12671791" y="9200634"/>
            <a:ext cx="2353529" cy="369332"/>
          </a:xfrm>
          <a:prstGeom prst="rect">
            <a:avLst/>
          </a:prstGeom>
        </p:spPr>
        <p:txBody>
          <a:bodyPr wrap="none">
            <a:spAutoFit/>
          </a:bodyPr>
          <a:lstStyle/>
          <a:p>
            <a:r>
              <a:rPr lang="en-US">
                <a:hlinkClick r:id="rId4"/>
              </a:rPr>
              <a:t>Click to open in Lifeliqe</a:t>
            </a:r>
            <a:endParaRPr lang="en-US"/>
          </a:p>
        </p:txBody>
      </p:sp>
      <p:sp>
        <p:nvSpPr>
          <p:cNvPr id="9" name="Slide Number Placeholder 8">
            <a:extLst>
              <a:ext uri="{FF2B5EF4-FFF2-40B4-BE49-F238E27FC236}">
                <a16:creationId xmlns:a16="http://schemas.microsoft.com/office/drawing/2014/main" id="{6705A729-C058-8066-A1A2-9B96E16328D1}"/>
              </a:ext>
            </a:extLst>
          </p:cNvPr>
          <p:cNvSpPr>
            <a:spLocks noGrp="1"/>
          </p:cNvSpPr>
          <p:nvPr>
            <p:ph type="sldNum" sz="quarter" idx="12"/>
          </p:nvPr>
        </p:nvSpPr>
        <p:spPr/>
        <p:txBody>
          <a:bodyPr/>
          <a:lstStyle/>
          <a:p>
            <a:fld id="{B6F15528-21DE-4FAA-801E-634DDDAF4B2B}" type="slidenum">
              <a:rPr lang="cs-CZ" smtClean="0"/>
              <a:t>1</a:t>
            </a:fld>
            <a:endParaRPr lang="cs-CZ"/>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10AC73C5-368A-4992-917B-0C0A1838E3CA}"/>
              </a:ext>
            </a:extLst>
          </p:cNvPr>
          <p:cNvGrpSpPr/>
          <p:nvPr/>
        </p:nvGrpSpPr>
        <p:grpSpPr>
          <a:xfrm>
            <a:off x="0" y="5031087"/>
            <a:ext cx="4739032" cy="829483"/>
            <a:chOff x="42258" y="9308974"/>
            <a:chExt cx="4280735" cy="440211"/>
          </a:xfrm>
          <a:solidFill>
            <a:srgbClr val="FFBF00"/>
          </a:solidFill>
        </p:grpSpPr>
        <p:sp>
          <p:nvSpPr>
            <p:cNvPr id="57" name="object 4">
              <a:extLst>
                <a:ext uri="{FF2B5EF4-FFF2-40B4-BE49-F238E27FC236}">
                  <a16:creationId xmlns:a16="http://schemas.microsoft.com/office/drawing/2014/main" id="{52033DA7-B496-435D-A3DB-E45BD45E4B7C}"/>
                </a:ext>
              </a:extLst>
            </p:cNvPr>
            <p:cNvSpPr/>
            <p:nvPr/>
          </p:nvSpPr>
          <p:spPr>
            <a:xfrm>
              <a:off x="42258" y="9308974"/>
              <a:ext cx="3923363" cy="439420"/>
            </a:xfrm>
            <a:custGeom>
              <a:avLst/>
              <a:gdLst/>
              <a:ahLst/>
              <a:cxnLst/>
              <a:rect l="l" t="t" r="r" b="b"/>
              <a:pathLst>
                <a:path w="3844925" h="439420">
                  <a:moveTo>
                    <a:pt x="0" y="439204"/>
                  </a:moveTo>
                  <a:lnTo>
                    <a:pt x="3844798" y="439204"/>
                  </a:lnTo>
                  <a:lnTo>
                    <a:pt x="3844798" y="0"/>
                  </a:lnTo>
                  <a:lnTo>
                    <a:pt x="0" y="0"/>
                  </a:lnTo>
                  <a:lnTo>
                    <a:pt x="0" y="439204"/>
                  </a:lnTo>
                  <a:close/>
                </a:path>
              </a:pathLst>
            </a:custGeom>
            <a:grpFill/>
          </p:spPr>
          <p:txBody>
            <a:bodyPr wrap="square" lIns="0" tIns="0" rIns="0" bIns="0" rtlCol="0"/>
            <a:lstStyle/>
            <a:p>
              <a:endParaRPr lang="en-US" dirty="0"/>
            </a:p>
          </p:txBody>
        </p:sp>
        <p:sp>
          <p:nvSpPr>
            <p:cNvPr id="58" name="object 5">
              <a:extLst>
                <a:ext uri="{FF2B5EF4-FFF2-40B4-BE49-F238E27FC236}">
                  <a16:creationId xmlns:a16="http://schemas.microsoft.com/office/drawing/2014/main" id="{892C04EB-8963-4611-98BC-C2BD5AD407A8}"/>
                </a:ext>
              </a:extLst>
            </p:cNvPr>
            <p:cNvSpPr/>
            <p:nvPr/>
          </p:nvSpPr>
          <p:spPr>
            <a:xfrm>
              <a:off x="3608250" y="9309765"/>
              <a:ext cx="714743"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grpFill/>
          </p:spPr>
          <p:txBody>
            <a:bodyPr wrap="square" lIns="0" tIns="0" rIns="0" bIns="0" rtlCol="0"/>
            <a:lstStyle/>
            <a:p>
              <a:endParaRPr lang="en-US" dirty="0"/>
            </a:p>
          </p:txBody>
        </p:sp>
      </p:grpSp>
      <p:sp>
        <p:nvSpPr>
          <p:cNvPr id="10" name="object 10"/>
          <p:cNvSpPr txBox="1"/>
          <p:nvPr/>
        </p:nvSpPr>
        <p:spPr>
          <a:xfrm>
            <a:off x="894953" y="1580816"/>
            <a:ext cx="17220406" cy="3390672"/>
          </a:xfrm>
          <a:prstGeom prst="rect">
            <a:avLst/>
          </a:prstGeom>
        </p:spPr>
        <p:txBody>
          <a:bodyPr vert="horz" wrap="square" lIns="0" tIns="5080" rIns="0" bIns="0" rtlCol="0">
            <a:spAutoFit/>
          </a:bodyPr>
          <a:lstStyle/>
          <a:p>
            <a:pPr marL="12700" marR="5080" algn="just">
              <a:lnSpc>
                <a:spcPct val="100000"/>
              </a:lnSpc>
              <a:spcBef>
                <a:spcPts val="100"/>
              </a:spcBef>
            </a:pPr>
            <a:r>
              <a:rPr lang="en-US" sz="2000" spc="-5" dirty="0">
                <a:cs typeface="Source Sans Pro Light"/>
              </a:rPr>
              <a:t>According to the CDC Museum Covid-19 Timeline (available online), the novel virus was recognized as atypical pneumonia symptoms in patients within Wuhan as early as December 12, 2019 and the genetic code was sent to the WHO as soon as January 5</a:t>
            </a:r>
            <a:r>
              <a:rPr lang="en-US" sz="2000" spc="-5" baseline="30000" dirty="0">
                <a:cs typeface="Source Sans Pro Light"/>
              </a:rPr>
              <a:t>th</a:t>
            </a:r>
            <a:r>
              <a:rPr lang="en-US" sz="2000" spc="-5" dirty="0">
                <a:cs typeface="Source Sans Pro Light"/>
              </a:rPr>
              <a:t>, 2020. The virus is officially categorized as a strain of </a:t>
            </a:r>
            <a:r>
              <a:rPr lang="en-US" sz="2000" i="1" spc="-5" dirty="0" err="1">
                <a:cs typeface="Source Sans Pro Light"/>
              </a:rPr>
              <a:t>Coronaviridae</a:t>
            </a:r>
            <a:r>
              <a:rPr lang="en-US" sz="2000" spc="-5" dirty="0">
                <a:cs typeface="Source Sans Pro Light"/>
              </a:rPr>
              <a:t> on January 10</a:t>
            </a:r>
            <a:r>
              <a:rPr lang="en-US" sz="2000" spc="-5" baseline="30000" dirty="0">
                <a:cs typeface="Source Sans Pro Light"/>
              </a:rPr>
              <a:t>th</a:t>
            </a:r>
            <a:r>
              <a:rPr lang="en-US" sz="2000" spc="-5" dirty="0">
                <a:cs typeface="Source Sans Pro Light"/>
              </a:rPr>
              <a:t>. The first reported death is reported by China on January 11</a:t>
            </a:r>
            <a:r>
              <a:rPr lang="en-US" sz="2000" spc="-5" baseline="30000" dirty="0">
                <a:cs typeface="Source Sans Pro Light"/>
              </a:rPr>
              <a:t>th</a:t>
            </a:r>
            <a:r>
              <a:rPr lang="en-US" sz="2000" spc="-5" dirty="0">
                <a:cs typeface="Source Sans Pro Light"/>
              </a:rPr>
              <a:t>. The first documented case of Covid-19 leaving China was on January 13</a:t>
            </a:r>
            <a:r>
              <a:rPr lang="en-US" sz="2000" spc="-5" baseline="30000" dirty="0">
                <a:cs typeface="Source Sans Pro Light"/>
              </a:rPr>
              <a:t>th</a:t>
            </a:r>
            <a:r>
              <a:rPr lang="en-US" sz="2000" spc="-5" dirty="0">
                <a:cs typeface="Source Sans Pro Light"/>
              </a:rPr>
              <a:t>, reported by Thailand’s Ministry of Public Health. By the end of the month, Covid-19 managed to spread worldwide, despite efforts by countries around the world to curtail the spread. By February 10</a:t>
            </a:r>
            <a:r>
              <a:rPr lang="en-US" sz="2000" spc="-5" baseline="30000" dirty="0">
                <a:cs typeface="Source Sans Pro Light"/>
              </a:rPr>
              <a:t>th</a:t>
            </a:r>
            <a:r>
              <a:rPr lang="en-US" sz="2000" spc="-5" dirty="0">
                <a:cs typeface="Source Sans Pro Light"/>
              </a:rPr>
              <a:t>, 2020, the worldwide death toll was reported to be 1,013. March 11</a:t>
            </a:r>
            <a:r>
              <a:rPr lang="en-US" sz="2000" spc="-5" baseline="30000" dirty="0">
                <a:cs typeface="Source Sans Pro Light"/>
              </a:rPr>
              <a:t>th</a:t>
            </a:r>
            <a:r>
              <a:rPr lang="en-US" sz="2000" spc="-5" dirty="0">
                <a:cs typeface="Source Sans Pro Light"/>
              </a:rPr>
              <a:t>, the deaths reached 4,291. Moderna begins human trials for a vaccine March 17</a:t>
            </a:r>
            <a:r>
              <a:rPr lang="en-US" sz="2000" spc="-5" baseline="30000" dirty="0">
                <a:cs typeface="Source Sans Pro Light"/>
              </a:rPr>
              <a:t>th</a:t>
            </a:r>
            <a:r>
              <a:rPr lang="en-US" sz="2000" spc="-5" dirty="0">
                <a:cs typeface="Source Sans Pro Light"/>
              </a:rPr>
              <a:t>. April 30</a:t>
            </a:r>
            <a:r>
              <a:rPr lang="en-US" sz="2000" spc="-5" baseline="30000" dirty="0">
                <a:cs typeface="Source Sans Pro Light"/>
              </a:rPr>
              <a:t>th</a:t>
            </a:r>
            <a:r>
              <a:rPr lang="en-US" sz="2000" spc="-5" dirty="0">
                <a:cs typeface="Source Sans Pro Light"/>
              </a:rPr>
              <a:t>, 2020, the Trump Administration established Operation Warp Speed to fund six “promising” vaccine candidates for study. The first person to receive a vaccine outside of trial was Sandra Lindsey on December 14</a:t>
            </a:r>
            <a:r>
              <a:rPr lang="en-US" sz="2000" spc="-5" baseline="30000" dirty="0">
                <a:cs typeface="Source Sans Pro Light"/>
              </a:rPr>
              <a:t>th</a:t>
            </a:r>
            <a:r>
              <a:rPr lang="en-US" sz="2000" spc="-5" dirty="0">
                <a:cs typeface="Source Sans Pro Light"/>
              </a:rPr>
              <a:t>. Over the next 10 days ~1 million vaccines are administered to elderly patients and healthcare workers. While 2.8 million US citizens were vaccinated by December 31</a:t>
            </a:r>
            <a:r>
              <a:rPr lang="en-US" sz="2000" spc="-5" baseline="30000" dirty="0">
                <a:cs typeface="Source Sans Pro Light"/>
              </a:rPr>
              <a:t>st</a:t>
            </a:r>
            <a:r>
              <a:rPr lang="en-US" sz="2000" spc="-5" dirty="0">
                <a:cs typeface="Source Sans Pro Light"/>
              </a:rPr>
              <a:t>, this was 1/10</a:t>
            </a:r>
            <a:r>
              <a:rPr lang="en-US" sz="2000" spc="-5" baseline="30000" dirty="0">
                <a:cs typeface="Source Sans Pro Light"/>
              </a:rPr>
              <a:t>th</a:t>
            </a:r>
            <a:r>
              <a:rPr lang="en-US" sz="2000" spc="-5" dirty="0">
                <a:cs typeface="Source Sans Pro Light"/>
              </a:rPr>
              <a:t> of the goal set out by policy and the reported death toll of Covid-19 in the states was reported to be 400,000 by January 18</a:t>
            </a:r>
            <a:r>
              <a:rPr lang="en-US" sz="2000" spc="-5" baseline="30000" dirty="0">
                <a:cs typeface="Source Sans Pro Light"/>
              </a:rPr>
              <a:t>th</a:t>
            </a:r>
            <a:r>
              <a:rPr lang="en-US" sz="2000" spc="-5" dirty="0">
                <a:cs typeface="Source Sans Pro Light"/>
              </a:rPr>
              <a:t>, 2021, double the highest estimate that Dr. Fauci and Dr. Brix gave in March 31</a:t>
            </a:r>
            <a:r>
              <a:rPr lang="en-US" sz="2000" spc="-5" baseline="30000" dirty="0">
                <a:cs typeface="Source Sans Pro Light"/>
              </a:rPr>
              <a:t>st</a:t>
            </a:r>
            <a:r>
              <a:rPr lang="en-US" sz="2000" spc="-5" dirty="0">
                <a:cs typeface="Source Sans Pro Light"/>
              </a:rPr>
              <a:t>, 2020. The death toll worldwide was estimated 15 million from January 2020-December 2021. The death toll reached 1 million in the USA by May 12</a:t>
            </a:r>
            <a:r>
              <a:rPr lang="en-US" sz="2000" spc="-5" baseline="30000" dirty="0">
                <a:cs typeface="Source Sans Pro Light"/>
              </a:rPr>
              <a:t>th</a:t>
            </a:r>
            <a:r>
              <a:rPr lang="en-US" sz="2000" spc="-5" dirty="0">
                <a:cs typeface="Source Sans Pro Light"/>
              </a:rPr>
              <a:t>, 2022, with Brown University estimating 50% of these US deaths were vaccine preventable (reported May 16</a:t>
            </a:r>
            <a:r>
              <a:rPr lang="en-US" sz="2000" spc="-5" baseline="30000" dirty="0">
                <a:cs typeface="Source Sans Pro Light"/>
              </a:rPr>
              <a:t>th</a:t>
            </a:r>
            <a:r>
              <a:rPr lang="en-US" sz="2000" spc="-5" dirty="0">
                <a:cs typeface="Source Sans Pro Light"/>
              </a:rPr>
              <a:t>, 2022). (CDC 2023)</a:t>
            </a:r>
            <a:endParaRPr lang="en-US" sz="2000" dirty="0">
              <a:cs typeface="Source Sans Pro Light"/>
            </a:endParaRPr>
          </a:p>
        </p:txBody>
      </p:sp>
      <p:sp>
        <p:nvSpPr>
          <p:cNvPr id="11" name="object 11"/>
          <p:cNvSpPr txBox="1"/>
          <p:nvPr/>
        </p:nvSpPr>
        <p:spPr>
          <a:xfrm>
            <a:off x="949669" y="6484001"/>
            <a:ext cx="16915606" cy="843821"/>
          </a:xfrm>
          <a:prstGeom prst="rect">
            <a:avLst/>
          </a:prstGeom>
        </p:spPr>
        <p:txBody>
          <a:bodyPr vert="horz" wrap="square" lIns="0" tIns="12700" rIns="0" bIns="0" rtlCol="0">
            <a:spAutoFit/>
          </a:bodyPr>
          <a:lstStyle/>
          <a:p>
            <a:pPr marL="12700">
              <a:lnSpc>
                <a:spcPct val="100000"/>
              </a:lnSpc>
              <a:spcBef>
                <a:spcPts val="100"/>
              </a:spcBef>
            </a:pPr>
            <a:r>
              <a:rPr lang="en-US" dirty="0">
                <a:cs typeface="Source Sans Pro Light"/>
              </a:rPr>
              <a:t>In 2020, AI was still in relative infancy, so conventional biological tests were the norm for the medical field. However, with CNN models and generative AI becoming more prevalent and available publicly, innovation in de novo study may be key for medical advancement. While the detection of Covid-19 was relatively fast, the response came far later than the initial detection. While all medicine requires vigorous testing for side effects, vaccines (while reliable) are slower than natural antibodies.</a:t>
            </a:r>
          </a:p>
        </p:txBody>
      </p:sp>
      <p:sp>
        <p:nvSpPr>
          <p:cNvPr id="12" name="object 12"/>
          <p:cNvSpPr txBox="1"/>
          <p:nvPr/>
        </p:nvSpPr>
        <p:spPr>
          <a:xfrm>
            <a:off x="923130" y="9417878"/>
            <a:ext cx="17164052" cy="282129"/>
          </a:xfrm>
          <a:prstGeom prst="rect">
            <a:avLst/>
          </a:prstGeom>
        </p:spPr>
        <p:txBody>
          <a:bodyPr vert="horz" wrap="square" lIns="0" tIns="5080" rIns="0" bIns="0" rtlCol="0">
            <a:spAutoFit/>
          </a:bodyPr>
          <a:lstStyle/>
          <a:p>
            <a:pPr marL="12700">
              <a:lnSpc>
                <a:spcPct val="100000"/>
              </a:lnSpc>
              <a:spcBef>
                <a:spcPts val="100"/>
              </a:spcBef>
            </a:pPr>
            <a:r>
              <a:rPr lang="en-US" i="1" dirty="0">
                <a:cs typeface="Source Sans Pro Light"/>
              </a:rPr>
              <a:t>Adenovirus, </a:t>
            </a:r>
            <a:r>
              <a:rPr lang="en-US" i="1" spc="-5" dirty="0">
                <a:cs typeface="Source Sans Pro Light"/>
              </a:rPr>
              <a:t>Influenza, </a:t>
            </a:r>
            <a:r>
              <a:rPr lang="en-US" i="1" spc="-5" dirty="0" err="1">
                <a:cs typeface="Source Sans Pro Light"/>
              </a:rPr>
              <a:t>Orthopox</a:t>
            </a:r>
            <a:r>
              <a:rPr lang="en-US" i="1" spc="-5" dirty="0">
                <a:cs typeface="Source Sans Pro Light"/>
              </a:rPr>
              <a:t>/Cowpox,</a:t>
            </a:r>
            <a:r>
              <a:rPr lang="en-US" i="1" dirty="0">
                <a:cs typeface="Source Sans Pro Light"/>
              </a:rPr>
              <a:t> </a:t>
            </a:r>
            <a:r>
              <a:rPr lang="en-US" i="1" spc="-5" dirty="0">
                <a:cs typeface="Source Sans Pro Light"/>
              </a:rPr>
              <a:t>CNN, Generative AI, Amino Acids, Proteomic Code</a:t>
            </a:r>
            <a:endParaRPr lang="en-US" dirty="0">
              <a:cs typeface="Source Sans Pro Light"/>
            </a:endParaRPr>
          </a:p>
        </p:txBody>
      </p:sp>
      <p:sp>
        <p:nvSpPr>
          <p:cNvPr id="22" name="object 22"/>
          <p:cNvSpPr txBox="1"/>
          <p:nvPr/>
        </p:nvSpPr>
        <p:spPr>
          <a:xfrm>
            <a:off x="665956" y="5223974"/>
            <a:ext cx="4806156"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Why is this relevant?</a:t>
            </a:r>
            <a:endParaRPr lang="en-US" sz="2800" dirty="0">
              <a:cs typeface="Source Sans Pro Light"/>
            </a:endParaRPr>
          </a:p>
        </p:txBody>
      </p:sp>
      <p:grpSp>
        <p:nvGrpSpPr>
          <p:cNvPr id="29" name="Group 28">
            <a:extLst>
              <a:ext uri="{FF2B5EF4-FFF2-40B4-BE49-F238E27FC236}">
                <a16:creationId xmlns:a16="http://schemas.microsoft.com/office/drawing/2014/main" id="{1D743BB0-F760-4639-92C9-9D37D1405502}"/>
              </a:ext>
            </a:extLst>
          </p:cNvPr>
          <p:cNvGrpSpPr/>
          <p:nvPr/>
        </p:nvGrpSpPr>
        <p:grpSpPr>
          <a:xfrm>
            <a:off x="61636" y="8088994"/>
            <a:ext cx="3256756" cy="828000"/>
            <a:chOff x="0" y="4134484"/>
            <a:chExt cx="3256756" cy="828000"/>
          </a:xfrm>
        </p:grpSpPr>
        <p:sp>
          <p:nvSpPr>
            <p:cNvPr id="23" name="object 23"/>
            <p:cNvSpPr/>
            <p:nvPr/>
          </p:nvSpPr>
          <p:spPr>
            <a:xfrm>
              <a:off x="0" y="4134484"/>
              <a:ext cx="3256756" cy="828000"/>
            </a:xfrm>
            <a:custGeom>
              <a:avLst/>
              <a:gdLst/>
              <a:ahLst/>
              <a:cxnLst/>
              <a:rect l="l" t="t" r="r" b="b"/>
              <a:pathLst>
                <a:path w="1909445" h="437514">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p:spPr>
          <p:txBody>
            <a:bodyPr wrap="square" lIns="0" tIns="0" rIns="0" bIns="0" rtlCol="0"/>
            <a:lstStyle/>
            <a:p>
              <a:endParaRPr lang="en-US"/>
            </a:p>
          </p:txBody>
        </p:sp>
        <p:sp>
          <p:nvSpPr>
            <p:cNvPr id="24" name="object 24"/>
            <p:cNvSpPr txBox="1"/>
            <p:nvPr/>
          </p:nvSpPr>
          <p:spPr>
            <a:xfrm>
              <a:off x="665956" y="4273127"/>
              <a:ext cx="2478008" cy="443711"/>
            </a:xfrm>
            <a:prstGeom prst="rect">
              <a:avLst/>
            </a:prstGeom>
          </p:spPr>
          <p:txBody>
            <a:bodyPr vert="horz" wrap="square" lIns="0" tIns="12700" rIns="0" bIns="0" rtlCol="0">
              <a:spAutoFit/>
            </a:bodyPr>
            <a:lstStyle/>
            <a:p>
              <a:pPr marL="12700">
                <a:spcBef>
                  <a:spcPts val="100"/>
                </a:spcBef>
              </a:pPr>
              <a:r>
                <a:rPr lang="en-US" sz="2800" spc="5" dirty="0">
                  <a:solidFill>
                    <a:srgbClr val="FFFFFF"/>
                  </a:solidFill>
                  <a:cs typeface="Source Sans Pro Light"/>
                </a:rPr>
                <a:t>K</a:t>
              </a:r>
              <a:r>
                <a:rPr lang="en-US" sz="2800" spc="25" dirty="0">
                  <a:solidFill>
                    <a:srgbClr val="FFFFFF"/>
                  </a:solidFill>
                  <a:cs typeface="Source Sans Pro Light"/>
                </a:rPr>
                <a:t>e</a:t>
              </a:r>
              <a:r>
                <a:rPr lang="en-US" sz="2800" dirty="0">
                  <a:solidFill>
                    <a:srgbClr val="FFFFFF"/>
                  </a:solidFill>
                  <a:cs typeface="Source Sans Pro Light"/>
                </a:rPr>
                <a:t>ywo</a:t>
              </a:r>
              <a:r>
                <a:rPr lang="en-US" sz="2800" spc="-20" dirty="0">
                  <a:solidFill>
                    <a:srgbClr val="FFFFFF"/>
                  </a:solidFill>
                  <a:cs typeface="Source Sans Pro Light"/>
                </a:rPr>
                <a:t>r</a:t>
              </a:r>
              <a:r>
                <a:rPr lang="en-US" sz="2800" dirty="0">
                  <a:solidFill>
                    <a:srgbClr val="FFFFFF"/>
                  </a:solidFill>
                  <a:cs typeface="Source Sans Pro Light"/>
                </a:rPr>
                <a:t>ds</a:t>
              </a:r>
              <a:endParaRPr lang="en-US" sz="2800" dirty="0">
                <a:cs typeface="Source Sans Pro Light"/>
              </a:endParaRPr>
            </a:p>
          </p:txBody>
        </p:sp>
      </p:grpSp>
      <p:grpSp>
        <p:nvGrpSpPr>
          <p:cNvPr id="52" name="Group 51">
            <a:extLst>
              <a:ext uri="{FF2B5EF4-FFF2-40B4-BE49-F238E27FC236}">
                <a16:creationId xmlns:a16="http://schemas.microsoft.com/office/drawing/2014/main" id="{985AB44F-D837-4737-86D1-C4E5A35B8AC4}"/>
              </a:ext>
            </a:extLst>
          </p:cNvPr>
          <p:cNvGrpSpPr/>
          <p:nvPr/>
        </p:nvGrpSpPr>
        <p:grpSpPr>
          <a:xfrm>
            <a:off x="-19844" y="546100"/>
            <a:ext cx="4800599" cy="828000"/>
            <a:chOff x="0" y="8642689"/>
            <a:chExt cx="4336348" cy="439424"/>
          </a:xfrm>
        </p:grpSpPr>
        <p:sp>
          <p:nvSpPr>
            <p:cNvPr id="53" name="object 4">
              <a:extLst>
                <a:ext uri="{FF2B5EF4-FFF2-40B4-BE49-F238E27FC236}">
                  <a16:creationId xmlns:a16="http://schemas.microsoft.com/office/drawing/2014/main" id="{6DB0E343-9628-4235-8038-621A98D250CA}"/>
                </a:ext>
              </a:extLst>
            </p:cNvPr>
            <p:cNvSpPr/>
            <p:nvPr/>
          </p:nvSpPr>
          <p:spPr>
            <a:xfrm>
              <a:off x="0" y="8642693"/>
              <a:ext cx="3923363"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dirty="0"/>
            </a:p>
          </p:txBody>
        </p:sp>
        <p:sp>
          <p:nvSpPr>
            <p:cNvPr id="54" name="object 5">
              <a:extLst>
                <a:ext uri="{FF2B5EF4-FFF2-40B4-BE49-F238E27FC236}">
                  <a16:creationId xmlns:a16="http://schemas.microsoft.com/office/drawing/2014/main" id="{CF5C245D-05EF-4DFD-8810-E437FF667919}"/>
                </a:ext>
              </a:extLst>
            </p:cNvPr>
            <p:cNvSpPr/>
            <p:nvPr/>
          </p:nvSpPr>
          <p:spPr>
            <a:xfrm>
              <a:off x="3621605" y="8642689"/>
              <a:ext cx="714743"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55" name="object 9">
            <a:extLst>
              <a:ext uri="{FF2B5EF4-FFF2-40B4-BE49-F238E27FC236}">
                <a16:creationId xmlns:a16="http://schemas.microsoft.com/office/drawing/2014/main" id="{290C40E7-4402-4FD6-90CE-5CDF3FC9D08D}"/>
              </a:ext>
            </a:extLst>
          </p:cNvPr>
          <p:cNvSpPr txBox="1"/>
          <p:nvPr/>
        </p:nvSpPr>
        <p:spPr>
          <a:xfrm>
            <a:off x="665956" y="738245"/>
            <a:ext cx="3581400" cy="443711"/>
          </a:xfrm>
          <a:prstGeom prst="rect">
            <a:avLst/>
          </a:prstGeom>
        </p:spPr>
        <p:txBody>
          <a:bodyPr vert="horz" wrap="square" lIns="0" tIns="12700" rIns="0" bIns="0" rtlCol="0">
            <a:spAutoFit/>
          </a:bodyPr>
          <a:lstStyle/>
          <a:p>
            <a:pPr marL="12700">
              <a:lnSpc>
                <a:spcPct val="100000"/>
              </a:lnSpc>
              <a:spcBef>
                <a:spcPts val="100"/>
              </a:spcBef>
            </a:pPr>
            <a:r>
              <a:rPr lang="en-US" sz="2800" spc="-5" dirty="0">
                <a:solidFill>
                  <a:srgbClr val="FFFFFF"/>
                </a:solidFill>
                <a:cs typeface="Source Sans Pro Light"/>
              </a:rPr>
              <a:t>The Problem of Time</a:t>
            </a:r>
            <a:endParaRPr lang="en-US" sz="2800" dirty="0">
              <a:cs typeface="Source Sans Pro Light"/>
            </a:endParaRPr>
          </a:p>
        </p:txBody>
      </p:sp>
      <p:sp>
        <p:nvSpPr>
          <p:cNvPr id="2" name="Slide Number Placeholder 1">
            <a:extLst>
              <a:ext uri="{FF2B5EF4-FFF2-40B4-BE49-F238E27FC236}">
                <a16:creationId xmlns:a16="http://schemas.microsoft.com/office/drawing/2014/main" id="{67333520-10B0-34C8-5439-F8F67482CFC4}"/>
              </a:ext>
            </a:extLst>
          </p:cNvPr>
          <p:cNvSpPr>
            <a:spLocks noGrp="1"/>
          </p:cNvSpPr>
          <p:nvPr>
            <p:ph type="sldNum" sz="quarter" idx="12"/>
          </p:nvPr>
        </p:nvSpPr>
        <p:spPr/>
        <p:txBody>
          <a:bodyPr/>
          <a:lstStyle/>
          <a:p>
            <a:fld id="{B6F15528-21DE-4FAA-801E-634DDDAF4B2B}" type="slidenum">
              <a:rPr lang="cs-CZ" smtClean="0"/>
              <a:t>2</a:t>
            </a:fld>
            <a:endParaRPr lang="cs-CZ"/>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243E722-EB2A-4DAB-9C03-AD61A7B8B33F}"/>
              </a:ext>
            </a:extLst>
          </p:cNvPr>
          <p:cNvGrpSpPr/>
          <p:nvPr/>
        </p:nvGrpSpPr>
        <p:grpSpPr>
          <a:xfrm>
            <a:off x="-794" y="546100"/>
            <a:ext cx="3256757" cy="828000"/>
            <a:chOff x="0" y="5270500"/>
            <a:chExt cx="3256757" cy="828000"/>
          </a:xfrm>
        </p:grpSpPr>
        <p:sp>
          <p:nvSpPr>
            <p:cNvPr id="3" name="object 25">
              <a:extLst>
                <a:ext uri="{FF2B5EF4-FFF2-40B4-BE49-F238E27FC236}">
                  <a16:creationId xmlns:a16="http://schemas.microsoft.com/office/drawing/2014/main" id="{126E0F5F-0BF5-421E-896C-66BDFA467F8E}"/>
                </a:ext>
              </a:extLst>
            </p:cNvPr>
            <p:cNvSpPr/>
            <p:nvPr/>
          </p:nvSpPr>
          <p:spPr>
            <a:xfrm>
              <a:off x="0" y="5270500"/>
              <a:ext cx="3256757" cy="828000"/>
            </a:xfrm>
            <a:custGeom>
              <a:avLst/>
              <a:gdLst/>
              <a:ahLst/>
              <a:cxnLst/>
              <a:rect l="l" t="t" r="r" b="b"/>
              <a:pathLst>
                <a:path w="1955164" h="437514">
                  <a:moveTo>
                    <a:pt x="1736031" y="0"/>
                  </a:moveTo>
                  <a:lnTo>
                    <a:pt x="0" y="0"/>
                  </a:lnTo>
                  <a:lnTo>
                    <a:pt x="0" y="437153"/>
                  </a:lnTo>
                  <a:lnTo>
                    <a:pt x="1736031" y="437153"/>
                  </a:lnTo>
                  <a:lnTo>
                    <a:pt x="1786148" y="431380"/>
                  </a:lnTo>
                  <a:lnTo>
                    <a:pt x="1832155" y="414936"/>
                  </a:lnTo>
                  <a:lnTo>
                    <a:pt x="1872739" y="389134"/>
                  </a:lnTo>
                  <a:lnTo>
                    <a:pt x="1906588" y="355285"/>
                  </a:lnTo>
                  <a:lnTo>
                    <a:pt x="1932391" y="314701"/>
                  </a:lnTo>
                  <a:lnTo>
                    <a:pt x="1948834" y="268694"/>
                  </a:lnTo>
                  <a:lnTo>
                    <a:pt x="1954607" y="218577"/>
                  </a:lnTo>
                  <a:lnTo>
                    <a:pt x="1948834" y="168459"/>
                  </a:lnTo>
                  <a:lnTo>
                    <a:pt x="1932391" y="122452"/>
                  </a:lnTo>
                  <a:lnTo>
                    <a:pt x="1906588" y="81868"/>
                  </a:lnTo>
                  <a:lnTo>
                    <a:pt x="1872739" y="48018"/>
                  </a:lnTo>
                  <a:lnTo>
                    <a:pt x="1832155" y="22216"/>
                  </a:lnTo>
                  <a:lnTo>
                    <a:pt x="1786148" y="5772"/>
                  </a:lnTo>
                  <a:lnTo>
                    <a:pt x="1736031" y="0"/>
                  </a:lnTo>
                  <a:close/>
                </a:path>
              </a:pathLst>
            </a:custGeom>
            <a:solidFill>
              <a:srgbClr val="FF8201"/>
            </a:solidFill>
          </p:spPr>
          <p:txBody>
            <a:bodyPr wrap="square" lIns="0" tIns="0" rIns="0" bIns="0" rtlCol="0"/>
            <a:lstStyle/>
            <a:p>
              <a:endParaRPr lang="en-US"/>
            </a:p>
          </p:txBody>
        </p:sp>
        <p:sp>
          <p:nvSpPr>
            <p:cNvPr id="4" name="object 26">
              <a:extLst>
                <a:ext uri="{FF2B5EF4-FFF2-40B4-BE49-F238E27FC236}">
                  <a16:creationId xmlns:a16="http://schemas.microsoft.com/office/drawing/2014/main" id="{47361EA6-B98B-4E3D-A601-BE47951F364B}"/>
                </a:ext>
              </a:extLst>
            </p:cNvPr>
            <p:cNvSpPr txBox="1"/>
            <p:nvPr/>
          </p:nvSpPr>
          <p:spPr>
            <a:xfrm>
              <a:off x="665956" y="5436389"/>
              <a:ext cx="2561858" cy="443711"/>
            </a:xfrm>
            <a:prstGeom prst="rect">
              <a:avLst/>
            </a:prstGeom>
          </p:spPr>
          <p:txBody>
            <a:bodyPr vert="horz" wrap="square" lIns="0" tIns="12700" rIns="0" bIns="0" rtlCol="0">
              <a:spAutoFit/>
            </a:bodyPr>
            <a:lstStyle/>
            <a:p>
              <a:pPr marL="12700">
                <a:spcBef>
                  <a:spcPts val="100"/>
                </a:spcBef>
              </a:pPr>
              <a:r>
                <a:rPr lang="en-US" sz="2800" spc="-30" dirty="0">
                  <a:solidFill>
                    <a:srgbClr val="FFFFFF"/>
                  </a:solidFill>
                  <a:cs typeface="Source Sans Pro Light"/>
                </a:rPr>
                <a:t>Lexicon</a:t>
              </a:r>
              <a:endParaRPr lang="en-US" sz="2800" dirty="0">
                <a:cs typeface="Source Sans Pro Light"/>
              </a:endParaRPr>
            </a:p>
          </p:txBody>
        </p:sp>
      </p:grpSp>
      <p:sp>
        <p:nvSpPr>
          <p:cNvPr id="18" name="object 14">
            <a:extLst>
              <a:ext uri="{FF2B5EF4-FFF2-40B4-BE49-F238E27FC236}">
                <a16:creationId xmlns:a16="http://schemas.microsoft.com/office/drawing/2014/main" id="{655226AB-04E9-4FC5-9C22-E447B4D03FE2}"/>
              </a:ext>
            </a:extLst>
          </p:cNvPr>
          <p:cNvSpPr txBox="1"/>
          <p:nvPr/>
        </p:nvSpPr>
        <p:spPr>
          <a:xfrm>
            <a:off x="970756" y="1689100"/>
            <a:ext cx="4119089" cy="1410643"/>
          </a:xfrm>
          <a:prstGeom prst="rect">
            <a:avLst/>
          </a:prstGeom>
        </p:spPr>
        <p:txBody>
          <a:bodyPr vert="horz" wrap="square" lIns="0" tIns="12700" rIns="0" bIns="0" rtlCol="0">
            <a:spAutoFit/>
          </a:bodyPr>
          <a:lstStyle/>
          <a:p>
            <a:pPr marL="12700">
              <a:lnSpc>
                <a:spcPct val="100000"/>
              </a:lnSpc>
              <a:spcBef>
                <a:spcPts val="100"/>
              </a:spcBef>
            </a:pPr>
            <a:r>
              <a:rPr lang="en-US" b="1" i="1" spc="-5" dirty="0">
                <a:cs typeface="Source Sans Pro"/>
              </a:rPr>
              <a:t>Dry Biochemistry</a:t>
            </a:r>
          </a:p>
          <a:p>
            <a:pPr marL="12700">
              <a:lnSpc>
                <a:spcPct val="100000"/>
              </a:lnSpc>
              <a:spcBef>
                <a:spcPts val="100"/>
              </a:spcBef>
            </a:pPr>
            <a:endParaRPr lang="en-US" dirty="0">
              <a:cs typeface="Source Sans Pro"/>
            </a:endParaRPr>
          </a:p>
          <a:p>
            <a:pPr marL="12700">
              <a:lnSpc>
                <a:spcPct val="100000"/>
              </a:lnSpc>
            </a:pPr>
            <a:r>
              <a:rPr lang="en-US" spc="-15" dirty="0">
                <a:cs typeface="Source Sans Pro Light"/>
              </a:rPr>
              <a:t>Antibodies</a:t>
            </a:r>
          </a:p>
          <a:p>
            <a:pPr marL="12700">
              <a:lnSpc>
                <a:spcPct val="100000"/>
              </a:lnSpc>
            </a:pPr>
            <a:endParaRPr lang="en-US" spc="-15" dirty="0">
              <a:cs typeface="Source Sans Pro Light"/>
            </a:endParaRPr>
          </a:p>
          <a:p>
            <a:pPr marL="12700">
              <a:lnSpc>
                <a:spcPct val="100000"/>
              </a:lnSpc>
            </a:pPr>
            <a:r>
              <a:rPr lang="en-US" spc="-15" dirty="0">
                <a:cs typeface="Source Sans Pro Light"/>
              </a:rPr>
              <a:t>Amino Acids</a:t>
            </a:r>
            <a:endParaRPr lang="en-US" dirty="0">
              <a:cs typeface="Source Sans Pro Light"/>
            </a:endParaRPr>
          </a:p>
        </p:txBody>
      </p:sp>
      <p:sp>
        <p:nvSpPr>
          <p:cNvPr id="20" name="object 16">
            <a:extLst>
              <a:ext uri="{FF2B5EF4-FFF2-40B4-BE49-F238E27FC236}">
                <a16:creationId xmlns:a16="http://schemas.microsoft.com/office/drawing/2014/main" id="{4E2F80C0-381F-46DC-A968-D51250F1C439}"/>
              </a:ext>
            </a:extLst>
          </p:cNvPr>
          <p:cNvSpPr txBox="1"/>
          <p:nvPr/>
        </p:nvSpPr>
        <p:spPr>
          <a:xfrm>
            <a:off x="970756" y="3327717"/>
            <a:ext cx="1981200" cy="1159292"/>
          </a:xfrm>
          <a:prstGeom prst="rect">
            <a:avLst/>
          </a:prstGeom>
        </p:spPr>
        <p:txBody>
          <a:bodyPr vert="horz" wrap="square" lIns="0" tIns="12700" rIns="0" bIns="0" rtlCol="0">
            <a:spAutoFit/>
          </a:bodyPr>
          <a:lstStyle/>
          <a:p>
            <a:pPr marL="12700">
              <a:lnSpc>
                <a:spcPct val="100000"/>
              </a:lnSpc>
              <a:spcBef>
                <a:spcPts val="100"/>
              </a:spcBef>
            </a:pPr>
            <a:r>
              <a:rPr lang="en-US" dirty="0" err="1">
                <a:cs typeface="Source Sans Pro Light"/>
              </a:rPr>
              <a:t>Proteonomic</a:t>
            </a:r>
            <a:r>
              <a:rPr lang="en-US" dirty="0">
                <a:cs typeface="Source Sans Pro Light"/>
              </a:rPr>
              <a:t> code</a:t>
            </a:r>
          </a:p>
          <a:p>
            <a:pPr marL="12700">
              <a:lnSpc>
                <a:spcPct val="100000"/>
              </a:lnSpc>
              <a:spcBef>
                <a:spcPts val="100"/>
              </a:spcBef>
            </a:pPr>
            <a:endParaRPr lang="en-US" dirty="0">
              <a:cs typeface="Source Sans Pro Light"/>
            </a:endParaRPr>
          </a:p>
          <a:p>
            <a:pPr marL="12700">
              <a:lnSpc>
                <a:spcPct val="100000"/>
              </a:lnSpc>
              <a:spcBef>
                <a:spcPts val="100"/>
              </a:spcBef>
            </a:pPr>
            <a:endParaRPr lang="en-US" dirty="0">
              <a:cs typeface="Source Sans Pro Light"/>
            </a:endParaRPr>
          </a:p>
          <a:p>
            <a:pPr marL="12700">
              <a:lnSpc>
                <a:spcPct val="100000"/>
              </a:lnSpc>
              <a:spcBef>
                <a:spcPts val="100"/>
              </a:spcBef>
            </a:pPr>
            <a:r>
              <a:rPr lang="en-US" dirty="0">
                <a:cs typeface="Source Sans Pro Light"/>
              </a:rPr>
              <a:t>TEM imaging</a:t>
            </a:r>
          </a:p>
        </p:txBody>
      </p:sp>
      <p:sp>
        <p:nvSpPr>
          <p:cNvPr id="21" name="object 17">
            <a:extLst>
              <a:ext uri="{FF2B5EF4-FFF2-40B4-BE49-F238E27FC236}">
                <a16:creationId xmlns:a16="http://schemas.microsoft.com/office/drawing/2014/main" id="{C0042D55-F483-471B-87EF-9075F0610BD7}"/>
              </a:ext>
            </a:extLst>
          </p:cNvPr>
          <p:cNvSpPr txBox="1"/>
          <p:nvPr/>
        </p:nvSpPr>
        <p:spPr>
          <a:xfrm>
            <a:off x="990670" y="4835111"/>
            <a:ext cx="1313966" cy="289823"/>
          </a:xfrm>
          <a:prstGeom prst="rect">
            <a:avLst/>
          </a:prstGeom>
        </p:spPr>
        <p:txBody>
          <a:bodyPr vert="horz" wrap="square" lIns="0" tIns="12700" rIns="0" bIns="0" rtlCol="0">
            <a:spAutoFit/>
          </a:bodyPr>
          <a:lstStyle/>
          <a:p>
            <a:pPr marL="12700">
              <a:lnSpc>
                <a:spcPct val="100000"/>
              </a:lnSpc>
              <a:spcBef>
                <a:spcPts val="100"/>
              </a:spcBef>
            </a:pPr>
            <a:r>
              <a:rPr lang="en-US" b="1" i="1" dirty="0">
                <a:cs typeface="Source Sans Pro"/>
              </a:rPr>
              <a:t>AI fun </a:t>
            </a:r>
            <a:endParaRPr lang="en-US" b="1" dirty="0">
              <a:cs typeface="Source Sans Pro"/>
            </a:endParaRPr>
          </a:p>
        </p:txBody>
      </p:sp>
      <p:sp>
        <p:nvSpPr>
          <p:cNvPr id="22" name="object 18">
            <a:extLst>
              <a:ext uri="{FF2B5EF4-FFF2-40B4-BE49-F238E27FC236}">
                <a16:creationId xmlns:a16="http://schemas.microsoft.com/office/drawing/2014/main" id="{1C292679-9F8F-4EC6-B2D2-9850354BF09A}"/>
              </a:ext>
            </a:extLst>
          </p:cNvPr>
          <p:cNvSpPr txBox="1"/>
          <p:nvPr/>
        </p:nvSpPr>
        <p:spPr>
          <a:xfrm>
            <a:off x="990670" y="5393370"/>
            <a:ext cx="2291962" cy="289823"/>
          </a:xfrm>
          <a:prstGeom prst="rect">
            <a:avLst/>
          </a:prstGeom>
        </p:spPr>
        <p:txBody>
          <a:bodyPr vert="horz" wrap="square" lIns="0" tIns="12700" rIns="0" bIns="0" rtlCol="0">
            <a:spAutoFit/>
          </a:bodyPr>
          <a:lstStyle/>
          <a:p>
            <a:pPr marL="12700">
              <a:lnSpc>
                <a:spcPct val="100000"/>
              </a:lnSpc>
              <a:spcBef>
                <a:spcPts val="100"/>
              </a:spcBef>
            </a:pPr>
            <a:r>
              <a:rPr lang="en-US" b="0" spc="5" dirty="0">
                <a:cs typeface="Source Sans Pro Light"/>
              </a:rPr>
              <a:t>CNN</a:t>
            </a:r>
            <a:r>
              <a:rPr lang="en-US" b="0" dirty="0">
                <a:cs typeface="Source Sans Pro Light"/>
              </a:rPr>
              <a:t>.</a:t>
            </a:r>
            <a:endParaRPr lang="en-US" dirty="0">
              <a:cs typeface="Source Sans Pro Light"/>
            </a:endParaRPr>
          </a:p>
        </p:txBody>
      </p:sp>
      <p:sp>
        <p:nvSpPr>
          <p:cNvPr id="23" name="object 19">
            <a:extLst>
              <a:ext uri="{FF2B5EF4-FFF2-40B4-BE49-F238E27FC236}">
                <a16:creationId xmlns:a16="http://schemas.microsoft.com/office/drawing/2014/main" id="{E04E22F8-528B-4824-9502-E5BC3B6ECA09}"/>
              </a:ext>
            </a:extLst>
          </p:cNvPr>
          <p:cNvSpPr txBox="1"/>
          <p:nvPr/>
        </p:nvSpPr>
        <p:spPr>
          <a:xfrm>
            <a:off x="990670" y="5960077"/>
            <a:ext cx="2291962" cy="289823"/>
          </a:xfrm>
          <a:prstGeom prst="rect">
            <a:avLst/>
          </a:prstGeom>
        </p:spPr>
        <p:txBody>
          <a:bodyPr vert="horz" wrap="square" lIns="0" tIns="12700" rIns="0" bIns="0" rtlCol="0">
            <a:spAutoFit/>
          </a:bodyPr>
          <a:lstStyle/>
          <a:p>
            <a:pPr marL="12700">
              <a:lnSpc>
                <a:spcPct val="100000"/>
              </a:lnSpc>
              <a:spcBef>
                <a:spcPts val="100"/>
              </a:spcBef>
            </a:pPr>
            <a:r>
              <a:rPr lang="en-US" spc="5" dirty="0">
                <a:cs typeface="Source Sans Pro Light"/>
              </a:rPr>
              <a:t>Computer Vison</a:t>
            </a:r>
            <a:endParaRPr lang="en-US" dirty="0">
              <a:cs typeface="Source Sans Pro Light"/>
            </a:endParaRPr>
          </a:p>
        </p:txBody>
      </p:sp>
      <p:sp>
        <p:nvSpPr>
          <p:cNvPr id="24" name="object 20">
            <a:extLst>
              <a:ext uri="{FF2B5EF4-FFF2-40B4-BE49-F238E27FC236}">
                <a16:creationId xmlns:a16="http://schemas.microsoft.com/office/drawing/2014/main" id="{FAFB5A35-BF02-4ED4-8563-4A73785EE3AD}"/>
              </a:ext>
            </a:extLst>
          </p:cNvPr>
          <p:cNvSpPr txBox="1"/>
          <p:nvPr/>
        </p:nvSpPr>
        <p:spPr>
          <a:xfrm>
            <a:off x="3102149" y="2234996"/>
            <a:ext cx="15012813" cy="869469"/>
          </a:xfrm>
          <a:prstGeom prst="rect">
            <a:avLst/>
          </a:prstGeom>
        </p:spPr>
        <p:txBody>
          <a:bodyPr vert="horz" wrap="square" lIns="0" tIns="12700" rIns="0" bIns="0" rtlCol="0">
            <a:spAutoFit/>
          </a:bodyPr>
          <a:lstStyle/>
          <a:p>
            <a:pPr marL="12700" marR="5080" algn="just">
              <a:lnSpc>
                <a:spcPct val="100000"/>
              </a:lnSpc>
              <a:spcBef>
                <a:spcPts val="100"/>
              </a:spcBef>
            </a:pPr>
            <a:r>
              <a:rPr lang="en-US" b="0" spc="-5" dirty="0">
                <a:cs typeface="Source Sans Pro Light"/>
              </a:rPr>
              <a:t>Proteins released by B-cells within the immune system that bind and attack foreign bodies (i.e. viruses)</a:t>
            </a:r>
          </a:p>
          <a:p>
            <a:pPr marL="12700" marR="5080" algn="just">
              <a:lnSpc>
                <a:spcPct val="100000"/>
              </a:lnSpc>
              <a:spcBef>
                <a:spcPts val="100"/>
              </a:spcBef>
            </a:pPr>
            <a:endParaRPr lang="en-US" spc="-5" dirty="0">
              <a:cs typeface="Source Sans Pro Light"/>
            </a:endParaRPr>
          </a:p>
          <a:p>
            <a:pPr marL="12700" marR="5080" algn="just">
              <a:lnSpc>
                <a:spcPct val="100000"/>
              </a:lnSpc>
              <a:spcBef>
                <a:spcPts val="100"/>
              </a:spcBef>
            </a:pPr>
            <a:r>
              <a:rPr lang="en-US" b="0" spc="-5" dirty="0">
                <a:cs typeface="Source Sans Pro Light"/>
              </a:rPr>
              <a:t>Building blocks of proteins such as antibodies. </a:t>
            </a:r>
            <a:r>
              <a:rPr lang="en-US" spc="-5" dirty="0">
                <a:cs typeface="Source Sans Pro Light"/>
              </a:rPr>
              <a:t>There are 20 base and distinct amino acids that every living being can code from DNA. </a:t>
            </a:r>
            <a:endParaRPr lang="en-US" dirty="0">
              <a:cs typeface="Source Sans Pro Light"/>
            </a:endParaRPr>
          </a:p>
        </p:txBody>
      </p:sp>
      <p:sp>
        <p:nvSpPr>
          <p:cNvPr id="25" name="object 21">
            <a:extLst>
              <a:ext uri="{FF2B5EF4-FFF2-40B4-BE49-F238E27FC236}">
                <a16:creationId xmlns:a16="http://schemas.microsoft.com/office/drawing/2014/main" id="{6F103D05-9EBB-41BD-9934-E3310691413B}"/>
              </a:ext>
            </a:extLst>
          </p:cNvPr>
          <p:cNvSpPr txBox="1"/>
          <p:nvPr/>
        </p:nvSpPr>
        <p:spPr>
          <a:xfrm>
            <a:off x="3102149" y="3354398"/>
            <a:ext cx="15008211" cy="1146468"/>
          </a:xfrm>
          <a:prstGeom prst="rect">
            <a:avLst/>
          </a:prstGeom>
        </p:spPr>
        <p:txBody>
          <a:bodyPr vert="horz" wrap="square" lIns="0" tIns="12700" rIns="0" bIns="0" rtlCol="0">
            <a:spAutoFit/>
          </a:bodyPr>
          <a:lstStyle/>
          <a:p>
            <a:pPr marL="12700" marR="5080" algn="just">
              <a:lnSpc>
                <a:spcPct val="100000"/>
              </a:lnSpc>
              <a:spcBef>
                <a:spcPts val="100"/>
              </a:spcBef>
            </a:pPr>
            <a:r>
              <a:rPr lang="en-US" i="1" spc="-15" dirty="0">
                <a:cs typeface="Source Sans Pro Light"/>
              </a:rPr>
              <a:t>Like the nucleotides in DNA (GCAT), Amino Acids also have an alphanumeric code (ACDEFGHIKLMNPQRSTVWY) which is often simpler to use than the traditional DNA code.</a:t>
            </a:r>
          </a:p>
          <a:p>
            <a:pPr marL="12700" marR="5080" algn="just">
              <a:lnSpc>
                <a:spcPct val="100000"/>
              </a:lnSpc>
              <a:spcBef>
                <a:spcPts val="100"/>
              </a:spcBef>
            </a:pPr>
            <a:endParaRPr lang="en-US" i="1" spc="-15" dirty="0">
              <a:cs typeface="Source Sans Pro Light"/>
            </a:endParaRPr>
          </a:p>
          <a:p>
            <a:pPr marL="12700" marR="5080" algn="just">
              <a:lnSpc>
                <a:spcPct val="100000"/>
              </a:lnSpc>
              <a:spcBef>
                <a:spcPts val="100"/>
              </a:spcBef>
            </a:pPr>
            <a:r>
              <a:rPr lang="en-US" i="1" spc="-15" dirty="0">
                <a:cs typeface="Source Sans Pro Light"/>
              </a:rPr>
              <a:t>Transmission Electron Microscopy </a:t>
            </a:r>
            <a:r>
              <a:rPr lang="en-US" spc="-15" dirty="0">
                <a:cs typeface="Source Sans Pro Light"/>
              </a:rPr>
              <a:t>is a high-resolution imaging technique used for imaging microscopic organisms and viruses.</a:t>
            </a:r>
            <a:endParaRPr lang="en-US" i="1" dirty="0">
              <a:cs typeface="Source Sans Pro Light"/>
            </a:endParaRPr>
          </a:p>
        </p:txBody>
      </p:sp>
      <p:sp>
        <p:nvSpPr>
          <p:cNvPr id="26" name="object 22">
            <a:extLst>
              <a:ext uri="{FF2B5EF4-FFF2-40B4-BE49-F238E27FC236}">
                <a16:creationId xmlns:a16="http://schemas.microsoft.com/office/drawing/2014/main" id="{77477C1C-1998-4242-A3C9-884422080FB6}"/>
              </a:ext>
            </a:extLst>
          </p:cNvPr>
          <p:cNvSpPr txBox="1"/>
          <p:nvPr/>
        </p:nvSpPr>
        <p:spPr>
          <a:xfrm>
            <a:off x="3227020" y="5351959"/>
            <a:ext cx="15010509" cy="289823"/>
          </a:xfrm>
          <a:prstGeom prst="rect">
            <a:avLst/>
          </a:prstGeom>
        </p:spPr>
        <p:txBody>
          <a:bodyPr vert="horz" wrap="square" lIns="0" tIns="12700" rIns="0" bIns="0" rtlCol="0">
            <a:spAutoFit/>
          </a:bodyPr>
          <a:lstStyle/>
          <a:p>
            <a:pPr marL="12700" marR="5080" algn="just">
              <a:lnSpc>
                <a:spcPct val="100000"/>
              </a:lnSpc>
              <a:spcBef>
                <a:spcPts val="100"/>
              </a:spcBef>
            </a:pPr>
            <a:r>
              <a:rPr lang="en-US" i="1" spc="-5" dirty="0">
                <a:cs typeface="Source Sans Pro Light"/>
              </a:rPr>
              <a:t>Convolutional Neural Network</a:t>
            </a:r>
            <a:r>
              <a:rPr lang="en-US" b="1" i="1" spc="-5" dirty="0">
                <a:cs typeface="Source Sans Pro Light"/>
              </a:rPr>
              <a:t>, </a:t>
            </a:r>
            <a:r>
              <a:rPr lang="en-US" spc="-5" dirty="0">
                <a:cs typeface="Source Sans Pro Light"/>
              </a:rPr>
              <a:t>a layered network utilized primarily for visual data such as images. (</a:t>
            </a:r>
            <a:r>
              <a:rPr lang="en-US" dirty="0" err="1"/>
              <a:t>Krizhevsky</a:t>
            </a:r>
            <a:r>
              <a:rPr lang="en-US" dirty="0"/>
              <a:t> et al 2012)</a:t>
            </a:r>
            <a:endParaRPr lang="en-US" i="1" dirty="0">
              <a:cs typeface="Source Sans Pro Light"/>
            </a:endParaRPr>
          </a:p>
        </p:txBody>
      </p:sp>
      <p:sp>
        <p:nvSpPr>
          <p:cNvPr id="27" name="object 23">
            <a:extLst>
              <a:ext uri="{FF2B5EF4-FFF2-40B4-BE49-F238E27FC236}">
                <a16:creationId xmlns:a16="http://schemas.microsoft.com/office/drawing/2014/main" id="{42B4430E-9395-4CCB-B7A9-78D7A0047B47}"/>
              </a:ext>
            </a:extLst>
          </p:cNvPr>
          <p:cNvSpPr txBox="1"/>
          <p:nvPr/>
        </p:nvSpPr>
        <p:spPr>
          <a:xfrm>
            <a:off x="3255963" y="5959697"/>
            <a:ext cx="15012813" cy="289823"/>
          </a:xfrm>
          <a:prstGeom prst="rect">
            <a:avLst/>
          </a:prstGeom>
        </p:spPr>
        <p:txBody>
          <a:bodyPr vert="horz" wrap="square" lIns="0" tIns="12700" rIns="0" bIns="0" rtlCol="0">
            <a:spAutoFit/>
          </a:bodyPr>
          <a:lstStyle/>
          <a:p>
            <a:pPr marL="12700" marR="5080">
              <a:lnSpc>
                <a:spcPct val="100000"/>
              </a:lnSpc>
              <a:spcBef>
                <a:spcPts val="100"/>
              </a:spcBef>
            </a:pPr>
            <a:r>
              <a:rPr lang="en-US" b="0" dirty="0">
                <a:cs typeface="Source Sans Pro Light"/>
              </a:rPr>
              <a:t>Field of Artificial Intelligence focused on enabling computers to interpret, analyze, and extract meaningful data</a:t>
            </a:r>
            <a:r>
              <a:rPr lang="en-US" b="0" spc="-5" dirty="0">
                <a:cs typeface="Source Sans Pro Light"/>
              </a:rPr>
              <a:t>. (Goodfellow 2016)</a:t>
            </a:r>
            <a:endParaRPr lang="en-US" dirty="0">
              <a:cs typeface="Source Sans Pro Light"/>
            </a:endParaRPr>
          </a:p>
        </p:txBody>
      </p:sp>
      <p:pic>
        <p:nvPicPr>
          <p:cNvPr id="6" name="Picture 5">
            <a:extLst>
              <a:ext uri="{FF2B5EF4-FFF2-40B4-BE49-F238E27FC236}">
                <a16:creationId xmlns:a16="http://schemas.microsoft.com/office/drawing/2014/main" id="{F61A5978-4870-BB9D-1798-968A5798F7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263" y="6477874"/>
            <a:ext cx="6881652" cy="3440826"/>
          </a:xfrm>
          <a:prstGeom prst="rect">
            <a:avLst/>
          </a:prstGeom>
        </p:spPr>
      </p:pic>
      <p:pic>
        <p:nvPicPr>
          <p:cNvPr id="8" name="Picture 7">
            <a:extLst>
              <a:ext uri="{FF2B5EF4-FFF2-40B4-BE49-F238E27FC236}">
                <a16:creationId xmlns:a16="http://schemas.microsoft.com/office/drawing/2014/main" id="{AC6E9DC5-A66E-8F22-059F-F87EE4C0F5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9156" y="6716873"/>
            <a:ext cx="3608155" cy="2912765"/>
          </a:xfrm>
          <a:prstGeom prst="rect">
            <a:avLst/>
          </a:prstGeom>
        </p:spPr>
      </p:pic>
      <p:pic>
        <p:nvPicPr>
          <p:cNvPr id="10" name="Picture 9">
            <a:extLst>
              <a:ext uri="{FF2B5EF4-FFF2-40B4-BE49-F238E27FC236}">
                <a16:creationId xmlns:a16="http://schemas.microsoft.com/office/drawing/2014/main" id="{8D12C4C3-2F68-CB9F-C15D-C9A5D92FB2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27311" y="6555427"/>
            <a:ext cx="6881653" cy="3235655"/>
          </a:xfrm>
          <a:prstGeom prst="rect">
            <a:avLst/>
          </a:prstGeom>
        </p:spPr>
      </p:pic>
      <p:sp>
        <p:nvSpPr>
          <p:cNvPr id="5" name="TextBox 4">
            <a:extLst>
              <a:ext uri="{FF2B5EF4-FFF2-40B4-BE49-F238E27FC236}">
                <a16:creationId xmlns:a16="http://schemas.microsoft.com/office/drawing/2014/main" id="{F5E4F5DE-9C90-FD47-E9CB-8FF058AA3D53}"/>
              </a:ext>
            </a:extLst>
          </p:cNvPr>
          <p:cNvSpPr txBox="1"/>
          <p:nvPr/>
        </p:nvSpPr>
        <p:spPr>
          <a:xfrm flipH="1">
            <a:off x="1155486" y="9791082"/>
            <a:ext cx="3472869" cy="276999"/>
          </a:xfrm>
          <a:prstGeom prst="rect">
            <a:avLst/>
          </a:prstGeom>
          <a:noFill/>
        </p:spPr>
        <p:txBody>
          <a:bodyPr wrap="square" rtlCol="0">
            <a:spAutoFit/>
          </a:bodyPr>
          <a:lstStyle/>
          <a:p>
            <a:r>
              <a:rPr lang="en-US" sz="1200" dirty="0"/>
              <a:t>Fig 1. DNA to RNA to Protein pathway</a:t>
            </a:r>
          </a:p>
        </p:txBody>
      </p:sp>
      <p:sp>
        <p:nvSpPr>
          <p:cNvPr id="9" name="TextBox 8">
            <a:extLst>
              <a:ext uri="{FF2B5EF4-FFF2-40B4-BE49-F238E27FC236}">
                <a16:creationId xmlns:a16="http://schemas.microsoft.com/office/drawing/2014/main" id="{CE57F0C3-5C07-B46C-1C1D-58168141A238}"/>
              </a:ext>
            </a:extLst>
          </p:cNvPr>
          <p:cNvSpPr txBox="1"/>
          <p:nvPr/>
        </p:nvSpPr>
        <p:spPr>
          <a:xfrm>
            <a:off x="7483915" y="9918700"/>
            <a:ext cx="2249841" cy="276999"/>
          </a:xfrm>
          <a:prstGeom prst="rect">
            <a:avLst/>
          </a:prstGeom>
          <a:noFill/>
        </p:spPr>
        <p:txBody>
          <a:bodyPr wrap="square" rtlCol="0">
            <a:spAutoFit/>
          </a:bodyPr>
          <a:lstStyle/>
          <a:p>
            <a:r>
              <a:rPr lang="en-US" sz="1200" dirty="0"/>
              <a:t>Fig 2. Diagram of Antibody</a:t>
            </a:r>
          </a:p>
        </p:txBody>
      </p:sp>
      <p:sp>
        <p:nvSpPr>
          <p:cNvPr id="11" name="TextBox 10">
            <a:extLst>
              <a:ext uri="{FF2B5EF4-FFF2-40B4-BE49-F238E27FC236}">
                <a16:creationId xmlns:a16="http://schemas.microsoft.com/office/drawing/2014/main" id="{BFF7E4C5-49B6-28A8-57CD-D0D337571FB6}"/>
              </a:ext>
            </a:extLst>
          </p:cNvPr>
          <p:cNvSpPr txBox="1"/>
          <p:nvPr/>
        </p:nvSpPr>
        <p:spPr>
          <a:xfrm>
            <a:off x="12334526" y="9734034"/>
            <a:ext cx="5371159" cy="276999"/>
          </a:xfrm>
          <a:prstGeom prst="rect">
            <a:avLst/>
          </a:prstGeom>
          <a:noFill/>
        </p:spPr>
        <p:txBody>
          <a:bodyPr wrap="square" rtlCol="0">
            <a:spAutoFit/>
          </a:bodyPr>
          <a:lstStyle/>
          <a:p>
            <a:r>
              <a:rPr lang="en-US" sz="1200" dirty="0"/>
              <a:t>Fig 3. Graph of standard CNN</a:t>
            </a:r>
          </a:p>
        </p:txBody>
      </p:sp>
      <p:sp>
        <p:nvSpPr>
          <p:cNvPr id="12" name="Slide Number Placeholder 11">
            <a:extLst>
              <a:ext uri="{FF2B5EF4-FFF2-40B4-BE49-F238E27FC236}">
                <a16:creationId xmlns:a16="http://schemas.microsoft.com/office/drawing/2014/main" id="{55EB7798-CE7B-324D-0DAD-56AF58FFA2B6}"/>
              </a:ext>
            </a:extLst>
          </p:cNvPr>
          <p:cNvSpPr>
            <a:spLocks noGrp="1"/>
          </p:cNvSpPr>
          <p:nvPr>
            <p:ph type="sldNum" sz="quarter" idx="12"/>
          </p:nvPr>
        </p:nvSpPr>
        <p:spPr/>
        <p:txBody>
          <a:bodyPr/>
          <a:lstStyle/>
          <a:p>
            <a:fld id="{B6F15528-21DE-4FAA-801E-634DDDAF4B2B}" type="slidenum">
              <a:rPr lang="cs-CZ" smtClean="0"/>
              <a:t>3</a:t>
            </a:fld>
            <a:endParaRPr lang="cs-CZ"/>
          </a:p>
        </p:txBody>
      </p:sp>
    </p:spTree>
    <p:extLst>
      <p:ext uri="{BB962C8B-B14F-4D97-AF65-F5344CB8AC3E}">
        <p14:creationId xmlns:p14="http://schemas.microsoft.com/office/powerpoint/2010/main" val="218477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0" y="546100"/>
            <a:ext cx="5314155" cy="828000"/>
            <a:chOff x="564554" y="8642689"/>
            <a:chExt cx="3496471" cy="439424"/>
          </a:xfrm>
        </p:grpSpPr>
        <p:sp>
          <p:nvSpPr>
            <p:cNvPr id="24" name="object 4">
              <a:extLst>
                <a:ext uri="{FF2B5EF4-FFF2-40B4-BE49-F238E27FC236}">
                  <a16:creationId xmlns:a16="http://schemas.microsoft.com/office/drawing/2014/main" id="{FAC1F606-62F6-4305-800B-EF4BDCC04BC6}"/>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65956" y="774700"/>
            <a:ext cx="70866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The Pipeline</a:t>
            </a:r>
            <a:endParaRPr lang="en-US" sz="2800" dirty="0">
              <a:cs typeface="Source Sans Pro Light"/>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813593" y="2298700"/>
            <a:ext cx="8691563" cy="989758"/>
          </a:xfrm>
          <a:prstGeom prst="rect">
            <a:avLst/>
          </a:prstGeom>
        </p:spPr>
        <p:txBody>
          <a:bodyPr vert="horz" wrap="square" lIns="0" tIns="5080" rIns="0" bIns="0" rtlCol="0" anchor="t">
            <a:spAutoFit/>
          </a:bodyPr>
          <a:lstStyle/>
          <a:p>
            <a:pPr marL="12700" marR="5080" algn="just">
              <a:lnSpc>
                <a:spcPct val="118100"/>
              </a:lnSpc>
            </a:pPr>
            <a:r>
              <a:rPr lang="en-US" sz="2800" b="1" dirty="0"/>
              <a:t>Image → CNN → Class → Markov Model → VH/VL → Similarity score</a:t>
            </a:r>
            <a:endParaRPr lang="en-US" sz="2800" b="1" dirty="0">
              <a:cs typeface="Source Sans Pro Light"/>
            </a:endParaRPr>
          </a:p>
        </p:txBody>
      </p:sp>
      <mc:AlternateContent xmlns:mc="http://schemas.openxmlformats.org/markup-compatibility/2006">
        <mc:Choice xmlns:am3d="http://schemas.microsoft.com/office/drawing/2017/model3d" Requires="am3d">
          <p:graphicFrame>
            <p:nvGraphicFramePr>
              <p:cNvPr id="2" name="3D Model 1">
                <a:extLst>
                  <a:ext uri="{FF2B5EF4-FFF2-40B4-BE49-F238E27FC236}">
                    <a16:creationId xmlns:a16="http://schemas.microsoft.com/office/drawing/2014/main" id="{212CDCDA-83EA-41D8-A074-B44FA3019B31}"/>
                  </a:ext>
                </a:extLst>
              </p:cNvPr>
              <p:cNvGraphicFramePr>
                <a:graphicFrameLocks noChangeAspect="1"/>
              </p:cNvGraphicFramePr>
              <p:nvPr>
                <p:extLst>
                  <p:ext uri="{D42A27DB-BD31-4B8C-83A1-F6EECF244321}">
                    <p14:modId xmlns:p14="http://schemas.microsoft.com/office/powerpoint/2010/main" val="2243249155"/>
                  </p:ext>
                </p:extLst>
              </p:nvPr>
            </p:nvGraphicFramePr>
            <p:xfrm>
              <a:off x="10356225" y="1986417"/>
              <a:ext cx="6987242" cy="6949164"/>
            </p:xfrm>
            <a:graphic>
              <a:graphicData uri="http://schemas.microsoft.com/office/drawing/2017/model3d">
                <am3d:model3d r:embed="rId2">
                  <am3d:spPr>
                    <a:xfrm>
                      <a:off x="0" y="0"/>
                      <a:ext cx="6987242" cy="6949164"/>
                    </a:xfrm>
                    <a:prstGeom prst="rect">
                      <a:avLst/>
                    </a:prstGeom>
                  </am3d:spPr>
                  <am3d:camera>
                    <am3d:pos x="0" y="0" z="80903303"/>
                    <am3d:up dx="0" dy="36000000" dz="0"/>
                    <am3d:lookAt x="0" y="0" z="0"/>
                    <am3d:perspective fov="2700000"/>
                  </am3d:camera>
                  <am3d:trans>
                    <am3d:meterPerModelUnit n="11500" d="1000000"/>
                    <am3d:preTrans dx="58537" dy="4393" dz="-9789"/>
                    <am3d:scale>
                      <am3d:sx n="1000000" d="1000000"/>
                      <am3d:sy n="1000000" d="1000000"/>
                      <am3d:sz n="1000000" d="1000000"/>
                    </am3d:scale>
                    <am3d:rot ax="4015619" ay="2716462" az="3543283"/>
                    <am3d:postTrans dx="0" dy="0" dz="0"/>
                  </am3d:trans>
                  <am3d:raster rName="Office3DRenderer" rVer="16.0.8326">
                    <am3d:blip r:embed="rId3"/>
                  </am3d:raster>
                  <am3d:objViewport viewportSz="1277503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a:extLst>
                  <a:ext uri="{FF2B5EF4-FFF2-40B4-BE49-F238E27FC236}">
                    <a16:creationId xmlns:a16="http://schemas.microsoft.com/office/drawing/2014/main" id="{212CDCDA-83EA-41D8-A074-B44FA3019B31}"/>
                  </a:ext>
                </a:extLst>
              </p:cNvPr>
              <p:cNvPicPr>
                <a:picLocks noGrp="1" noRot="1" noChangeAspect="1" noMove="1" noResize="1" noEditPoints="1" noAdjustHandles="1" noChangeArrowheads="1" noChangeShapeType="1" noCrop="1"/>
              </p:cNvPicPr>
              <p:nvPr/>
            </p:nvPicPr>
            <p:blipFill>
              <a:blip r:embed="rId3"/>
              <a:stretch>
                <a:fillRect/>
              </a:stretch>
            </p:blipFill>
            <p:spPr>
              <a:xfrm>
                <a:off x="10356225" y="1986417"/>
                <a:ext cx="6987242" cy="6949164"/>
              </a:xfrm>
              <a:prstGeom prst="rect">
                <a:avLst/>
              </a:prstGeom>
            </p:spPr>
          </p:pic>
        </mc:Fallback>
      </mc:AlternateContent>
      <p:sp>
        <p:nvSpPr>
          <p:cNvPr id="14" name="Rectangle 13">
            <a:extLst>
              <a:ext uri="{FF2B5EF4-FFF2-40B4-BE49-F238E27FC236}">
                <a16:creationId xmlns:a16="http://schemas.microsoft.com/office/drawing/2014/main" id="{DE17E435-0C21-4C81-AEDC-BFB763CB582A}"/>
              </a:ext>
            </a:extLst>
          </p:cNvPr>
          <p:cNvSpPr/>
          <p:nvPr/>
        </p:nvSpPr>
        <p:spPr>
          <a:xfrm>
            <a:off x="12372711" y="9015968"/>
            <a:ext cx="2954270" cy="369332"/>
          </a:xfrm>
          <a:prstGeom prst="rect">
            <a:avLst/>
          </a:prstGeom>
        </p:spPr>
        <p:txBody>
          <a:bodyPr wrap="none">
            <a:spAutoFit/>
          </a:bodyPr>
          <a:lstStyle/>
          <a:p>
            <a:r>
              <a:rPr lang="en-US">
                <a:solidFill>
                  <a:srgbClr val="222222"/>
                </a:solidFill>
              </a:rPr>
              <a:t>Click on the model to interact</a:t>
            </a:r>
            <a:endParaRPr lang="en-US"/>
          </a:p>
        </p:txBody>
      </p:sp>
      <p:pic>
        <p:nvPicPr>
          <p:cNvPr id="6" name="Picture 5">
            <a:extLst>
              <a:ext uri="{FF2B5EF4-FFF2-40B4-BE49-F238E27FC236}">
                <a16:creationId xmlns:a16="http://schemas.microsoft.com/office/drawing/2014/main" id="{0BBB2591-9AD8-DF19-A31B-530FD9FF00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5929" y="6138509"/>
            <a:ext cx="4643572" cy="3627791"/>
          </a:xfrm>
          <a:prstGeom prst="rect">
            <a:avLst/>
          </a:prstGeom>
        </p:spPr>
      </p:pic>
      <p:sp>
        <p:nvSpPr>
          <p:cNvPr id="7" name="TextBox 6">
            <a:extLst>
              <a:ext uri="{FF2B5EF4-FFF2-40B4-BE49-F238E27FC236}">
                <a16:creationId xmlns:a16="http://schemas.microsoft.com/office/drawing/2014/main" id="{C411933E-B0E6-DF26-3642-8DA9DC24FA43}"/>
              </a:ext>
            </a:extLst>
          </p:cNvPr>
          <p:cNvSpPr txBox="1"/>
          <p:nvPr/>
        </p:nvSpPr>
        <p:spPr>
          <a:xfrm>
            <a:off x="284956" y="9918700"/>
            <a:ext cx="5867400" cy="646331"/>
          </a:xfrm>
          <a:prstGeom prst="rect">
            <a:avLst/>
          </a:prstGeom>
          <a:noFill/>
        </p:spPr>
        <p:txBody>
          <a:bodyPr wrap="square" rtlCol="0">
            <a:spAutoFit/>
          </a:bodyPr>
          <a:lstStyle/>
          <a:p>
            <a:r>
              <a:rPr lang="en-US" dirty="0"/>
              <a:t>Transmission Electron Microscopy is typically in black and white, but usually, color is added for research reporting</a:t>
            </a:r>
          </a:p>
        </p:txBody>
      </p:sp>
      <p:sp>
        <p:nvSpPr>
          <p:cNvPr id="26" name="TextBox 25"/>
          <p:cNvSpPr txBox="1"/>
          <p:nvPr/>
        </p:nvSpPr>
        <p:spPr>
          <a:xfrm>
            <a:off x="11430000" y="6309360"/>
            <a:ext cx="457200" cy="274320"/>
          </a:xfrm>
          <a:prstGeom prst="rect">
            <a:avLst/>
          </a:prstGeom>
          <a:noFill/>
        </p:spPr>
        <p:txBody>
          <a:bodyPr wrap="none">
            <a:spAutoFit/>
          </a:bodyPr>
          <a:lstStyle/>
          <a:p>
            <a:r>
              <a:rPr sz="1200"/>
              <a:t>4</a:t>
            </a:r>
          </a:p>
        </p:txBody>
      </p:sp>
      <p:sp>
        <p:nvSpPr>
          <p:cNvPr id="27" name="TextBox 26"/>
          <p:cNvSpPr txBox="1"/>
          <p:nvPr/>
        </p:nvSpPr>
        <p:spPr>
          <a:xfrm>
            <a:off x="11247120" y="6126480"/>
            <a:ext cx="548640" cy="274320"/>
          </a:xfrm>
          <a:prstGeom prst="rect">
            <a:avLst/>
          </a:prstGeom>
          <a:noFill/>
        </p:spPr>
        <p:txBody>
          <a:bodyPr wrap="none">
            <a:spAutoFit/>
          </a:bodyPr>
          <a:lstStyle/>
          <a:p>
            <a:r>
              <a:rPr sz="1600"/>
              <a:t>Slide 4</a:t>
            </a:r>
          </a:p>
        </p:txBody>
      </p:sp>
      <p:sp>
        <p:nvSpPr>
          <p:cNvPr id="4" name="Slide Number Placeholder 3">
            <a:extLst>
              <a:ext uri="{FF2B5EF4-FFF2-40B4-BE49-F238E27FC236}">
                <a16:creationId xmlns:a16="http://schemas.microsoft.com/office/drawing/2014/main" id="{7A2E2DE8-DC79-22AE-2885-14450A3259EE}"/>
              </a:ext>
            </a:extLst>
          </p:cNvPr>
          <p:cNvSpPr>
            <a:spLocks noGrp="1"/>
          </p:cNvSpPr>
          <p:nvPr>
            <p:ph type="sldNum" sz="quarter" idx="12"/>
          </p:nvPr>
        </p:nvSpPr>
        <p:spPr/>
        <p:txBody>
          <a:bodyPr/>
          <a:lstStyle/>
          <a:p>
            <a:fld id="{B6F15528-21DE-4FAA-801E-634DDDAF4B2B}" type="slidenum">
              <a:rPr lang="cs-CZ" smtClean="0"/>
              <a:t>4</a:t>
            </a:fld>
            <a:endParaRPr lang="cs-CZ"/>
          </a:p>
        </p:txBody>
      </p:sp>
    </p:spTree>
    <p:extLst>
      <p:ext uri="{BB962C8B-B14F-4D97-AF65-F5344CB8AC3E}">
        <p14:creationId xmlns:p14="http://schemas.microsoft.com/office/powerpoint/2010/main" val="355642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mph" presetSubtype="128" accel="20000" decel="20000" fill="hold" nodeType="clickEffect">
                                  <p:stCondLst>
                                    <p:cond delay="0"/>
                                  </p:stCondLst>
                                  <p:childTnLst>
                                    <p:anim calcmode="lin" valueType="num">
                                      <p:cBhvr additive="sum">
                                        <p:cTn id="6" dur="5000" fill="hold"/>
                                        <p:tgtEl>
                                          <p:spTgt spid="2"/>
                                        </p:tgtEl>
                                        <p:attrNameLst>
                                          <p:attrName>3d.view.rotation.y</p:attrName>
                                        </p:attrNameLst>
                                      </p:cBhvr>
                                      <p:tavLst>
                                        <p:tav tm="0">
                                          <p:val>
                                            <p:fltVal val="0"/>
                                          </p:val>
                                        </p:tav>
                                        <p:tav tm="3330">
                                          <p:val>
                                            <p:fltVal val="6.9747"/>
                                          </p:val>
                                        </p:tav>
                                        <p:tav tm="6660">
                                          <p:val>
                                            <p:fltVal val="12.1039"/>
                                          </p:val>
                                        </p:tav>
                                        <p:tav tm="9990">
                                          <p:val>
                                            <p:fltVal val="15.6713"/>
                                          </p:val>
                                        </p:tav>
                                        <p:tav tm="13320">
                                          <p:val>
                                            <p:fltVal val="17.9604"/>
                                          </p:val>
                                        </p:tav>
                                        <p:tav tm="16650">
                                          <p:val>
                                            <p:fltVal val="19.2548"/>
                                          </p:val>
                                        </p:tav>
                                        <p:tav tm="19970">
                                          <p:val>
                                            <p:fltVal val="19.8371"/>
                                          </p:val>
                                        </p:tav>
                                        <p:tav tm="23290">
                                          <p:val>
                                            <p:fltVal val="19.9936"/>
                                          </p:val>
                                        </p:tav>
                                        <p:tav tm="26620">
                                          <p:val>
                                            <p:fltVal val="19.9945"/>
                                          </p:val>
                                        </p:tav>
                                        <p:tav tm="29950">
                                          <p:val>
                                            <p:fltVal val="19.8447"/>
                                          </p:val>
                                        </p:tav>
                                        <p:tav tm="33280">
                                          <p:val>
                                            <p:fltVal val="19.2733"/>
                                          </p:val>
                                        </p:tav>
                                        <p:tav tm="36610">
                                          <p:val>
                                            <p:fltVal val="17.9968"/>
                                          </p:val>
                                        </p:tav>
                                        <p:tav tm="39940">
                                          <p:val>
                                            <p:fltVal val="15.7316"/>
                                          </p:val>
                                        </p:tav>
                                        <p:tav tm="43270">
                                          <p:val>
                                            <p:fltVal val="12.194"/>
                                          </p:val>
                                        </p:tav>
                                        <p:tav tm="46600">
                                          <p:val>
                                            <p:fltVal val="7.1005"/>
                                          </p:val>
                                        </p:tav>
                                        <p:tav tm="49930">
                                          <p:val>
                                            <p:fltVal val="0.1675"/>
                                          </p:val>
                                        </p:tav>
                                        <p:tav tm="53250">
                                          <p:val>
                                            <p:fltVal val="-6.8299"/>
                                          </p:val>
                                        </p:tav>
                                        <p:tav tm="56580">
                                          <p:val>
                                            <p:fltVal val="-12.0002"/>
                                          </p:val>
                                        </p:tav>
                                        <p:tav tm="59900">
                                          <p:val>
                                            <p:fltVal val="-15.593"/>
                                          </p:val>
                                        </p:tav>
                                        <p:tav tm="63220">
                                          <p:val>
                                            <p:fltVal val="-17.9075"/>
                                          </p:val>
                                        </p:tav>
                                        <p:tav tm="66540">
                                          <p:val>
                                            <p:fltVal val="-19.2249"/>
                                          </p:val>
                                        </p:tav>
                                        <p:tav tm="69870">
                                          <p:val>
                                            <p:fltVal val="-19.8271"/>
                                          </p:val>
                                        </p:tav>
                                        <p:tav tm="73190">
                                          <p:val>
                                            <p:fltVal val="-19.9924"/>
                                          </p:val>
                                        </p:tav>
                                        <p:tav tm="76510">
                                          <p:val>
                                            <p:fltVal val="-19.9955"/>
                                          </p:val>
                                        </p:tav>
                                        <p:tav tm="79830">
                                          <p:val>
                                            <p:fltVal val="-19.8557"/>
                                          </p:val>
                                        </p:tav>
                                        <p:tav tm="83160">
                                          <p:val>
                                            <p:fltVal val="-19.3045"/>
                                          </p:val>
                                        </p:tav>
                                        <p:tav tm="86480">
                                          <p:val>
                                            <p:fltVal val="-18.0634"/>
                                          </p:val>
                                        </p:tav>
                                        <p:tav tm="89800">
                                          <p:val>
                                            <p:fltVal val="-15.8505"/>
                                          </p:val>
                                        </p:tav>
                                        <p:tav tm="93120">
                                          <p:val>
                                            <p:fltVal val="-12.3847"/>
                                          </p:val>
                                        </p:tav>
                                        <p:tav tm="96450">
                                          <p:val>
                                            <p:fltVal val="-7.3674"/>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1" y="546100"/>
            <a:ext cx="7219156" cy="828000"/>
            <a:chOff x="564554" y="8642689"/>
            <a:chExt cx="3496471" cy="439424"/>
          </a:xfrm>
        </p:grpSpPr>
        <p:sp>
          <p:nvSpPr>
            <p:cNvPr id="24" name="object 4">
              <a:extLst>
                <a:ext uri="{FF2B5EF4-FFF2-40B4-BE49-F238E27FC236}">
                  <a16:creationId xmlns:a16="http://schemas.microsoft.com/office/drawing/2014/main" id="{FAC1F606-62F6-4305-800B-EF4BDCC04BC6}"/>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65956" y="774700"/>
            <a:ext cx="10439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1. </a:t>
            </a:r>
            <a:r>
              <a:rPr lang="en-US" sz="2800" spc="-5" dirty="0">
                <a:solidFill>
                  <a:srgbClr val="FFFFFF"/>
                </a:solidFill>
                <a:cs typeface="Source Sans Pro Light"/>
              </a:rPr>
              <a:t>TEM Training</a:t>
            </a:r>
            <a:endParaRPr lang="en-US" sz="2800" dirty="0">
              <a:cs typeface="Source Sans Pro Light"/>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970756" y="1689100"/>
            <a:ext cx="10114755" cy="2311017"/>
          </a:xfrm>
          <a:prstGeom prst="rect">
            <a:avLst/>
          </a:prstGeom>
        </p:spPr>
        <p:txBody>
          <a:bodyPr vert="horz" wrap="square" lIns="0" tIns="5080" rIns="0" bIns="0" rtlCol="0">
            <a:spAutoFit/>
          </a:bodyPr>
          <a:lstStyle/>
          <a:p>
            <a:pPr marL="298450" marR="5080" indent="-285750" algn="just">
              <a:lnSpc>
                <a:spcPct val="118100"/>
              </a:lnSpc>
              <a:spcBef>
                <a:spcPts val="100"/>
              </a:spcBef>
              <a:buFont typeface="Arial" panose="020B0604020202020204" pitchFamily="34" charset="0"/>
              <a:buChar char="•"/>
            </a:pPr>
            <a:r>
              <a:rPr lang="en-US" dirty="0"/>
              <a:t>Damian Matuszewski and Ida-Maria Sintorn created a data set of 22 classifications of viruses with 1245 images. (Matuszewski, </a:t>
            </a:r>
            <a:r>
              <a:rPr lang="en-US" dirty="0" err="1"/>
              <a:t>Sintorn</a:t>
            </a:r>
            <a:r>
              <a:rPr lang="en-US" dirty="0"/>
              <a:t> 2021).</a:t>
            </a:r>
          </a:p>
          <a:p>
            <a:pPr marL="298450" marR="5080" indent="-285750" algn="just">
              <a:lnSpc>
                <a:spcPct val="118100"/>
              </a:lnSpc>
              <a:spcBef>
                <a:spcPts val="100"/>
              </a:spcBef>
              <a:buFont typeface="Arial" panose="020B0604020202020204" pitchFamily="34" charset="0"/>
              <a:buChar char="•"/>
            </a:pPr>
            <a:r>
              <a:rPr lang="en-US" b="1" dirty="0">
                <a:cs typeface="Source Sans Pro Light"/>
              </a:rPr>
              <a:t>*Disclosure* </a:t>
            </a:r>
            <a:r>
              <a:rPr lang="en-US" dirty="0">
                <a:cs typeface="Source Sans Pro Light"/>
              </a:rPr>
              <a:t>The training data is robust but the dataset itself was not utilized for the same purpose as this project, and the data is publicly available, so plagiarism is not a concern for this project.</a:t>
            </a:r>
          </a:p>
          <a:p>
            <a:pPr marL="298450" marR="5080" indent="-285750" algn="just">
              <a:lnSpc>
                <a:spcPct val="118100"/>
              </a:lnSpc>
              <a:spcBef>
                <a:spcPts val="100"/>
              </a:spcBef>
              <a:buFont typeface="Arial" panose="020B0604020202020204" pitchFamily="34" charset="0"/>
              <a:buChar char="•"/>
            </a:pPr>
            <a:r>
              <a:rPr lang="en-US" dirty="0">
                <a:cs typeface="Source Sans Pro Light"/>
              </a:rPr>
              <a:t>For sake of time, 3 classes were chosen for their similarity to Herpes Simplex: Adenovirus, </a:t>
            </a:r>
            <a:r>
              <a:rPr lang="en-US" dirty="0" err="1">
                <a:cs typeface="Source Sans Pro Light"/>
              </a:rPr>
              <a:t>Orthopox</a:t>
            </a:r>
            <a:r>
              <a:rPr lang="en-US" dirty="0">
                <a:cs typeface="Source Sans Pro Light"/>
              </a:rPr>
              <a:t>/Cowpox, and Influenza</a:t>
            </a:r>
          </a:p>
          <a:p>
            <a:pPr marL="298450" marR="5080" indent="-285750" algn="just">
              <a:lnSpc>
                <a:spcPct val="118100"/>
              </a:lnSpc>
              <a:spcBef>
                <a:spcPts val="100"/>
              </a:spcBef>
              <a:buFont typeface="Arial" panose="020B0604020202020204" pitchFamily="34" charset="0"/>
              <a:buChar char="•"/>
            </a:pPr>
            <a:r>
              <a:rPr lang="en-US" dirty="0">
                <a:cs typeface="Source Sans Pro Light"/>
              </a:rPr>
              <a:t>The images were put through a CNN and ran through 25 epochs.</a:t>
            </a:r>
          </a:p>
        </p:txBody>
      </p:sp>
      <p:grpSp>
        <p:nvGrpSpPr>
          <p:cNvPr id="13" name="Group 12">
            <a:extLst>
              <a:ext uri="{FF2B5EF4-FFF2-40B4-BE49-F238E27FC236}">
                <a16:creationId xmlns:a16="http://schemas.microsoft.com/office/drawing/2014/main" id="{04C32275-A16D-4FB5-8433-B19B1B3C2826}"/>
              </a:ext>
            </a:extLst>
          </p:cNvPr>
          <p:cNvGrpSpPr/>
          <p:nvPr/>
        </p:nvGrpSpPr>
        <p:grpSpPr>
          <a:xfrm>
            <a:off x="-19844" y="4061500"/>
            <a:ext cx="7219156" cy="828000"/>
            <a:chOff x="564554" y="8642689"/>
            <a:chExt cx="3496471" cy="439424"/>
          </a:xfrm>
        </p:grpSpPr>
        <p:sp>
          <p:nvSpPr>
            <p:cNvPr id="14" name="object 4">
              <a:extLst>
                <a:ext uri="{FF2B5EF4-FFF2-40B4-BE49-F238E27FC236}">
                  <a16:creationId xmlns:a16="http://schemas.microsoft.com/office/drawing/2014/main" id="{FB8BAB64-9884-48D0-9602-F6CA2B587FA1}"/>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dirty="0"/>
            </a:p>
          </p:txBody>
        </p:sp>
        <p:sp>
          <p:nvSpPr>
            <p:cNvPr id="15" name="object 5">
              <a:extLst>
                <a:ext uri="{FF2B5EF4-FFF2-40B4-BE49-F238E27FC236}">
                  <a16:creationId xmlns:a16="http://schemas.microsoft.com/office/drawing/2014/main" id="{DCEDDF91-FF6B-42D6-8142-2C3E187E3CA3}"/>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20" name="object 9">
            <a:extLst>
              <a:ext uri="{FF2B5EF4-FFF2-40B4-BE49-F238E27FC236}">
                <a16:creationId xmlns:a16="http://schemas.microsoft.com/office/drawing/2014/main" id="{B45F3059-DB31-42C8-B7A0-1E0CF61C7BA8}"/>
              </a:ext>
            </a:extLst>
          </p:cNvPr>
          <p:cNvSpPr txBox="1"/>
          <p:nvPr/>
        </p:nvSpPr>
        <p:spPr>
          <a:xfrm>
            <a:off x="646111" y="4290100"/>
            <a:ext cx="10439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2. Antibody Training</a:t>
            </a:r>
            <a:endParaRPr lang="en-US" sz="2800" dirty="0">
              <a:cs typeface="Source Sans Pro Light"/>
            </a:endParaRPr>
          </a:p>
        </p:txBody>
      </p:sp>
      <p:sp>
        <p:nvSpPr>
          <p:cNvPr id="21" name="object 10">
            <a:extLst>
              <a:ext uri="{FF2B5EF4-FFF2-40B4-BE49-F238E27FC236}">
                <a16:creationId xmlns:a16="http://schemas.microsoft.com/office/drawing/2014/main" id="{BE64FDA6-4483-4EB2-BFBC-8B0DFD3880B7}"/>
              </a:ext>
            </a:extLst>
          </p:cNvPr>
          <p:cNvSpPr txBox="1"/>
          <p:nvPr/>
        </p:nvSpPr>
        <p:spPr>
          <a:xfrm>
            <a:off x="970756" y="5405631"/>
            <a:ext cx="8686800" cy="4539704"/>
          </a:xfrm>
          <a:prstGeom prst="rect">
            <a:avLst/>
          </a:prstGeom>
        </p:spPr>
        <p:txBody>
          <a:bodyPr vert="horz" wrap="square" lIns="0" tIns="5080" rIns="0" bIns="0" rtlCol="0">
            <a:spAutoFit/>
          </a:bodyPr>
          <a:lstStyle/>
          <a:p>
            <a:pPr marL="12700">
              <a:lnSpc>
                <a:spcPct val="100000"/>
              </a:lnSpc>
              <a:spcBef>
                <a:spcPts val="100"/>
              </a:spcBef>
            </a:pPr>
            <a:r>
              <a:rPr lang="en-US" spc="-5" dirty="0">
                <a:cs typeface="Source Sans Pro Light"/>
              </a:rPr>
              <a:t>Antibodies for differing diseases have been isolated, structurally identified, and logged away in databases for decades. Thus, viruses that have been in the eye of the medical community long enough will ultimately have their corresponding antibody documented somewhere. Unfortunately, there is no one dataset for the three selected viruses so multiple were used, and the Adenovirus data required the creation of a </a:t>
            </a:r>
            <a:r>
              <a:rPr lang="en-US" spc="-5" dirty="0" err="1">
                <a:cs typeface="Source Sans Pro Light"/>
              </a:rPr>
              <a:t>webscraper</a:t>
            </a:r>
            <a:r>
              <a:rPr lang="en-US" spc="-5" dirty="0">
                <a:cs typeface="Source Sans Pro Light"/>
              </a:rPr>
              <a:t> </a:t>
            </a:r>
          </a:p>
          <a:p>
            <a:pPr marL="12700">
              <a:lnSpc>
                <a:spcPct val="100000"/>
              </a:lnSpc>
              <a:spcBef>
                <a:spcPts val="100"/>
              </a:spcBef>
            </a:pPr>
            <a:endParaRPr lang="en-US" spc="-5" dirty="0">
              <a:cs typeface="Source Sans Pro Light"/>
            </a:endParaRPr>
          </a:p>
          <a:p>
            <a:pPr marL="12700">
              <a:lnSpc>
                <a:spcPct val="100000"/>
              </a:lnSpc>
              <a:spcBef>
                <a:spcPts val="100"/>
              </a:spcBef>
            </a:pPr>
            <a:endParaRPr lang="en-US" spc="-5" dirty="0">
              <a:cs typeface="Source Sans Pro Light"/>
            </a:endParaRPr>
          </a:p>
          <a:p>
            <a:pPr marL="298450" indent="-285750">
              <a:lnSpc>
                <a:spcPct val="100000"/>
              </a:lnSpc>
              <a:spcBef>
                <a:spcPts val="100"/>
              </a:spcBef>
              <a:buFont typeface="Arial" panose="020B0604020202020204" pitchFamily="34" charset="0"/>
              <a:buChar char="•"/>
            </a:pPr>
            <a:r>
              <a:rPr lang="en-US" spc="-5" dirty="0">
                <a:cs typeface="Source Sans Pro Light"/>
              </a:rPr>
              <a:t>	</a:t>
            </a:r>
            <a:r>
              <a:rPr lang="en-US" b="1" spc="-5" dirty="0">
                <a:cs typeface="Source Sans Pro Light"/>
              </a:rPr>
              <a:t>Adenovirus  </a:t>
            </a:r>
            <a:r>
              <a:rPr lang="en-US" spc="-5" dirty="0">
                <a:cs typeface="Source Sans Pro Light"/>
              </a:rPr>
              <a:t>antibody dataset was scraped from RCSB Protein Data Bank</a:t>
            </a:r>
          </a:p>
          <a:p>
            <a:pPr marL="298450" indent="-285750">
              <a:lnSpc>
                <a:spcPct val="100000"/>
              </a:lnSpc>
              <a:spcBef>
                <a:spcPts val="100"/>
              </a:spcBef>
              <a:buFont typeface="Arial" panose="020B0604020202020204" pitchFamily="34" charset="0"/>
              <a:buChar char="•"/>
            </a:pPr>
            <a:r>
              <a:rPr lang="en-US" b="1" spc="-5" dirty="0">
                <a:cs typeface="Source Sans Pro Light"/>
              </a:rPr>
              <a:t>   Influenza </a:t>
            </a:r>
            <a:r>
              <a:rPr lang="en-US" spc="-5" dirty="0">
                <a:cs typeface="Source Sans Pro Light"/>
              </a:rPr>
              <a:t>antibody dataset was sourced from Immune Epitope Database</a:t>
            </a:r>
          </a:p>
          <a:p>
            <a:pPr marL="298450" indent="-285750">
              <a:spcBef>
                <a:spcPts val="100"/>
              </a:spcBef>
              <a:buFont typeface="Arial" panose="020B0604020202020204" pitchFamily="34" charset="0"/>
              <a:buChar char="•"/>
            </a:pPr>
            <a:r>
              <a:rPr lang="en-US" b="1" spc="-5" dirty="0">
                <a:cs typeface="Source Sans Pro Light"/>
              </a:rPr>
              <a:t>   Cowpox </a:t>
            </a:r>
            <a:r>
              <a:rPr lang="en-US" spc="-5" dirty="0">
                <a:cs typeface="Source Sans Pro Light"/>
              </a:rPr>
              <a:t>antibody dataset was sourced from Pox-</a:t>
            </a:r>
            <a:r>
              <a:rPr lang="en-US" spc="-5" dirty="0" err="1">
                <a:cs typeface="Source Sans Pro Light"/>
              </a:rPr>
              <a:t>AbDab</a:t>
            </a:r>
            <a:endParaRPr lang="en-US" spc="-5" dirty="0">
              <a:cs typeface="Source Sans Pro Light"/>
            </a:endParaRPr>
          </a:p>
          <a:p>
            <a:pPr marL="298450" indent="-285750">
              <a:spcBef>
                <a:spcPts val="100"/>
              </a:spcBef>
              <a:buFont typeface="Arial" panose="020B0604020202020204" pitchFamily="34" charset="0"/>
              <a:buChar char="•"/>
            </a:pPr>
            <a:endParaRPr lang="en-US" spc="-5" dirty="0">
              <a:cs typeface="Source Sans Pro Light"/>
            </a:endParaRPr>
          </a:p>
          <a:p>
            <a:pPr marL="12700">
              <a:spcBef>
                <a:spcPts val="100"/>
              </a:spcBef>
            </a:pPr>
            <a:r>
              <a:rPr lang="en-US" spc="-5" dirty="0">
                <a:cs typeface="Source Sans Pro Light"/>
              </a:rPr>
              <a:t>Once collected, all three datasets were </a:t>
            </a:r>
            <a:r>
              <a:rPr lang="en-US" spc="-5" dirty="0" err="1">
                <a:cs typeface="Source Sans Pro Light"/>
              </a:rPr>
              <a:t>concat</a:t>
            </a:r>
            <a:r>
              <a:rPr lang="en-US" spc="-5" dirty="0">
                <a:cs typeface="Source Sans Pro Light"/>
              </a:rPr>
              <a:t> into a single spreadsheet and then fed into a </a:t>
            </a:r>
            <a:r>
              <a:rPr lang="en-US" dirty="0"/>
              <a:t>Markov-chain-style probabilistic sequence model so that given antibodies could be linked to the CNN model. Once coded with a generator it can then generate heavy and light chains when analyzing new TEM images.</a:t>
            </a:r>
            <a:endParaRPr lang="en-US" spc="-5" dirty="0">
              <a:cs typeface="Source Sans Pro Light"/>
            </a:endParaRPr>
          </a:p>
          <a:p>
            <a:pPr marL="298450" indent="-285750">
              <a:lnSpc>
                <a:spcPct val="100000"/>
              </a:lnSpc>
              <a:spcBef>
                <a:spcPts val="100"/>
              </a:spcBef>
              <a:buFont typeface="Arial" panose="020B0604020202020204" pitchFamily="34" charset="0"/>
              <a:buChar char="•"/>
            </a:pPr>
            <a:endParaRPr lang="en-US" b="1" dirty="0">
              <a:cs typeface="Source Sans Pro Light"/>
            </a:endParaRPr>
          </a:p>
        </p:txBody>
      </p:sp>
      <p:sp>
        <p:nvSpPr>
          <p:cNvPr id="2" name="TextBox 1">
            <a:extLst>
              <a:ext uri="{FF2B5EF4-FFF2-40B4-BE49-F238E27FC236}">
                <a16:creationId xmlns:a16="http://schemas.microsoft.com/office/drawing/2014/main" id="{E460D64F-D822-B296-7AB7-9215C1234C4B}"/>
              </a:ext>
            </a:extLst>
          </p:cNvPr>
          <p:cNvSpPr txBox="1"/>
          <p:nvPr/>
        </p:nvSpPr>
        <p:spPr>
          <a:xfrm>
            <a:off x="11562556" y="1841500"/>
            <a:ext cx="6553994" cy="7017306"/>
          </a:xfrm>
          <a:prstGeom prst="rect">
            <a:avLst/>
          </a:prstGeom>
          <a:noFill/>
        </p:spPr>
        <p:txBody>
          <a:bodyPr wrap="square" rtlCol="0">
            <a:spAutoFit/>
          </a:bodyPr>
          <a:lstStyle/>
          <a:p>
            <a:r>
              <a:rPr lang="en-US" b="1" dirty="0"/>
              <a:t>CNN</a:t>
            </a:r>
          </a:p>
          <a:p>
            <a:r>
              <a:rPr lang="en-US" dirty="0"/>
              <a:t>self.conv1 = nn.Conv2d(3, 16, 3, padding=1)</a:t>
            </a:r>
          </a:p>
          <a:p>
            <a:r>
              <a:rPr lang="en-US" dirty="0"/>
              <a:t>self.conv2 = nn.Conv2d(16, 32, 3, padding=1)</a:t>
            </a:r>
          </a:p>
          <a:p>
            <a:endParaRPr lang="en-US" dirty="0"/>
          </a:p>
          <a:p>
            <a:r>
              <a:rPr lang="en-US" dirty="0"/>
              <a:t>self.fc1 = </a:t>
            </a:r>
            <a:r>
              <a:rPr lang="en-US" dirty="0" err="1"/>
              <a:t>nn.Linear</a:t>
            </a:r>
            <a:r>
              <a:rPr lang="en-US" dirty="0"/>
              <a:t>(32 * 7 * 7, 64)</a:t>
            </a:r>
          </a:p>
          <a:p>
            <a:r>
              <a:rPr lang="en-US" dirty="0"/>
              <a:t>self.fc2 = </a:t>
            </a:r>
            <a:r>
              <a:rPr lang="en-US" dirty="0" err="1"/>
              <a:t>nn.Linear</a:t>
            </a:r>
            <a:r>
              <a:rPr lang="en-US" dirty="0"/>
              <a:t>(64, 3)</a:t>
            </a:r>
          </a:p>
          <a:p>
            <a:endParaRPr lang="en-US" dirty="0"/>
          </a:p>
          <a:p>
            <a:r>
              <a:rPr lang="en-US" dirty="0"/>
              <a:t>x = </a:t>
            </a:r>
            <a:r>
              <a:rPr lang="en-US" dirty="0" err="1"/>
              <a:t>self.pool</a:t>
            </a:r>
            <a:r>
              <a:rPr lang="en-US" dirty="0"/>
              <a:t>(</a:t>
            </a:r>
            <a:r>
              <a:rPr lang="en-US" dirty="0" err="1"/>
              <a:t>F.relu</a:t>
            </a:r>
            <a:r>
              <a:rPr lang="en-US" dirty="0"/>
              <a:t>(self.conv1(x)))</a:t>
            </a:r>
          </a:p>
          <a:p>
            <a:r>
              <a:rPr lang="en-US" dirty="0"/>
              <a:t>x = </a:t>
            </a:r>
            <a:r>
              <a:rPr lang="en-US" dirty="0" err="1"/>
              <a:t>self.pool</a:t>
            </a:r>
            <a:r>
              <a:rPr lang="en-US" dirty="0"/>
              <a:t>(</a:t>
            </a:r>
            <a:r>
              <a:rPr lang="en-US" dirty="0" err="1"/>
              <a:t>F.relu</a:t>
            </a:r>
            <a:r>
              <a:rPr lang="en-US" dirty="0"/>
              <a:t>(self.conv2(x)))</a:t>
            </a:r>
          </a:p>
          <a:p>
            <a:endParaRPr lang="en-US" dirty="0"/>
          </a:p>
          <a:p>
            <a:r>
              <a:rPr lang="en-US" dirty="0"/>
              <a:t>x = </a:t>
            </a:r>
            <a:r>
              <a:rPr lang="en-US" dirty="0" err="1"/>
              <a:t>torch.flatten</a:t>
            </a:r>
            <a:r>
              <a:rPr lang="en-US" dirty="0"/>
              <a:t>(x, 1)</a:t>
            </a:r>
          </a:p>
          <a:p>
            <a:endParaRPr lang="en-US" dirty="0"/>
          </a:p>
          <a:p>
            <a:r>
              <a:rPr lang="en-US" dirty="0"/>
              <a:t>x = </a:t>
            </a:r>
            <a:r>
              <a:rPr lang="en-US" dirty="0" err="1"/>
              <a:t>F.relu</a:t>
            </a:r>
            <a:r>
              <a:rPr lang="en-US" dirty="0"/>
              <a:t>(self.fc1(x))</a:t>
            </a:r>
          </a:p>
          <a:p>
            <a:r>
              <a:rPr lang="en-US" dirty="0"/>
              <a:t>x = self.fc2(x)</a:t>
            </a:r>
          </a:p>
          <a:p>
            <a:endParaRPr lang="en-US" dirty="0"/>
          </a:p>
          <a:p>
            <a:endParaRPr lang="en-US" dirty="0"/>
          </a:p>
          <a:p>
            <a:r>
              <a:rPr lang="en-US" b="1" dirty="0"/>
              <a:t>Antibody:</a:t>
            </a:r>
            <a:br>
              <a:rPr lang="en-US" b="1" dirty="0"/>
            </a:br>
            <a:br>
              <a:rPr lang="en-US" b="1" dirty="0"/>
            </a:br>
            <a:r>
              <a:rPr lang="en-US" dirty="0"/>
              <a:t>context = seq[</a:t>
            </a:r>
            <a:r>
              <a:rPr lang="en-US" dirty="0" err="1"/>
              <a:t>i:i+k</a:t>
            </a:r>
            <a:r>
              <a:rPr lang="en-US" dirty="0"/>
              <a:t>]</a:t>
            </a:r>
          </a:p>
          <a:p>
            <a:r>
              <a:rPr lang="en-US" dirty="0" err="1"/>
              <a:t>next_char</a:t>
            </a:r>
            <a:r>
              <a:rPr lang="en-US" dirty="0"/>
              <a:t> = seq[</a:t>
            </a:r>
            <a:r>
              <a:rPr lang="en-US" dirty="0" err="1"/>
              <a:t>i+k</a:t>
            </a:r>
            <a:r>
              <a:rPr lang="en-US" dirty="0"/>
              <a:t>]</a:t>
            </a:r>
          </a:p>
          <a:p>
            <a:endParaRPr lang="en-US" dirty="0"/>
          </a:p>
          <a:p>
            <a:r>
              <a:rPr lang="en-US" dirty="0"/>
              <a:t>model[context][</a:t>
            </a:r>
            <a:r>
              <a:rPr lang="en-US" dirty="0" err="1"/>
              <a:t>next_char</a:t>
            </a:r>
            <a:r>
              <a:rPr lang="en-US" dirty="0"/>
              <a:t>] += 1</a:t>
            </a:r>
          </a:p>
          <a:p>
            <a:endParaRPr lang="en-US" dirty="0"/>
          </a:p>
          <a:p>
            <a:r>
              <a:rPr lang="en-US" dirty="0" err="1"/>
              <a:t>next_char</a:t>
            </a:r>
            <a:r>
              <a:rPr lang="en-US" dirty="0"/>
              <a:t> = </a:t>
            </a:r>
            <a:r>
              <a:rPr lang="en-US" dirty="0" err="1"/>
              <a:t>random.choices</a:t>
            </a:r>
            <a:r>
              <a:rPr lang="en-US" dirty="0"/>
              <a:t>(chars, weights=weights)[0]</a:t>
            </a:r>
          </a:p>
          <a:p>
            <a:r>
              <a:rPr lang="en-US" dirty="0"/>
              <a:t>output += </a:t>
            </a:r>
            <a:r>
              <a:rPr lang="en-US" dirty="0" err="1"/>
              <a:t>next_char</a:t>
            </a:r>
            <a:endParaRPr lang="en-US" dirty="0"/>
          </a:p>
        </p:txBody>
      </p:sp>
      <p:sp>
        <p:nvSpPr>
          <p:cNvPr id="3" name="Slide Number Placeholder 2">
            <a:extLst>
              <a:ext uri="{FF2B5EF4-FFF2-40B4-BE49-F238E27FC236}">
                <a16:creationId xmlns:a16="http://schemas.microsoft.com/office/drawing/2014/main" id="{1A8319C4-A3C7-2854-130D-CCE63BC545AD}"/>
              </a:ext>
            </a:extLst>
          </p:cNvPr>
          <p:cNvSpPr>
            <a:spLocks noGrp="1"/>
          </p:cNvSpPr>
          <p:nvPr>
            <p:ph type="sldNum" sz="quarter" idx="12"/>
          </p:nvPr>
        </p:nvSpPr>
        <p:spPr/>
        <p:txBody>
          <a:bodyPr/>
          <a:lstStyle/>
          <a:p>
            <a:fld id="{B6F15528-21DE-4FAA-801E-634DDDAF4B2B}" type="slidenum">
              <a:rPr lang="cs-CZ" smtClean="0"/>
              <a:t>5</a:t>
            </a:fld>
            <a:endParaRPr lang="cs-CZ"/>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0" y="582555"/>
            <a:ext cx="12019756" cy="828000"/>
            <a:chOff x="-3847425" y="8642689"/>
            <a:chExt cx="7908450" cy="439424"/>
          </a:xfrm>
        </p:grpSpPr>
        <p:sp>
          <p:nvSpPr>
            <p:cNvPr id="24" name="object 4">
              <a:extLst>
                <a:ext uri="{FF2B5EF4-FFF2-40B4-BE49-F238E27FC236}">
                  <a16:creationId xmlns:a16="http://schemas.microsoft.com/office/drawing/2014/main" id="{FAC1F606-62F6-4305-800B-EF4BDCC04BC6}"/>
                </a:ext>
              </a:extLst>
            </p:cNvPr>
            <p:cNvSpPr/>
            <p:nvPr/>
          </p:nvSpPr>
          <p:spPr>
            <a:xfrm>
              <a:off x="-3847425" y="8642693"/>
              <a:ext cx="7692351"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65956" y="774700"/>
            <a:ext cx="15011400" cy="443711"/>
          </a:xfrm>
          <a:prstGeom prst="rect">
            <a:avLst/>
          </a:prstGeom>
        </p:spPr>
        <p:txBody>
          <a:bodyPr vert="horz" wrap="square" lIns="0" tIns="12700" rIns="0" bIns="0" rtlCol="0">
            <a:spAutoFit/>
          </a:bodyPr>
          <a:lstStyle/>
          <a:p>
            <a:pPr marL="12700">
              <a:lnSpc>
                <a:spcPct val="100000"/>
              </a:lnSpc>
              <a:spcBef>
                <a:spcPts val="100"/>
              </a:spcBef>
            </a:pPr>
            <a:r>
              <a:rPr lang="en-US" sz="2800" spc="-5" dirty="0">
                <a:solidFill>
                  <a:srgbClr val="FFFFFF"/>
                </a:solidFill>
                <a:cs typeface="Source Sans Pro Light"/>
              </a:rPr>
              <a:t>Generation</a:t>
            </a:r>
            <a:endParaRPr lang="en-US" sz="2800" dirty="0">
              <a:cs typeface="Source Sans Pro Light"/>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971551" y="1689100"/>
            <a:ext cx="8457406" cy="7966283"/>
          </a:xfrm>
          <a:prstGeom prst="rect">
            <a:avLst/>
          </a:prstGeom>
        </p:spPr>
        <p:txBody>
          <a:bodyPr vert="horz" wrap="square" lIns="0" tIns="5080" rIns="0" bIns="0" rtlCol="0">
            <a:spAutoFit/>
          </a:bodyPr>
          <a:lstStyle/>
          <a:p>
            <a:pPr marL="12700">
              <a:lnSpc>
                <a:spcPct val="100000"/>
              </a:lnSpc>
              <a:spcBef>
                <a:spcPts val="100"/>
              </a:spcBef>
            </a:pPr>
            <a:r>
              <a:rPr lang="en-US" b="1" spc="-15" dirty="0">
                <a:cs typeface="Source Sans Pro"/>
              </a:rPr>
              <a:t>If we’re training on Adenovirus, Influenza, and Cowpox, then why are we evaluating Herpes which was NOT in the dataset?</a:t>
            </a:r>
            <a:endParaRPr lang="en-US" b="1" dirty="0">
              <a:cs typeface="Source Sans Pro"/>
            </a:endParaRPr>
          </a:p>
          <a:p>
            <a:pPr marL="12700">
              <a:lnSpc>
                <a:spcPct val="100000"/>
              </a:lnSpc>
            </a:pPr>
            <a:r>
              <a:rPr lang="en-US" spc="-5" dirty="0">
                <a:cs typeface="Source Sans Pro Light"/>
              </a:rPr>
              <a:t>The challenge for this proof of concept is to show that the model can have significant accuracy when faced with an unknown virus. Herpes is its own classification of virus, but is structurally similar to Influenza and shares other characteristics with Cowpox and Adenovirus</a:t>
            </a:r>
            <a:endParaRPr lang="en-US" dirty="0">
              <a:cs typeface="Source Sans Pro Light"/>
            </a:endParaRPr>
          </a:p>
          <a:p>
            <a:pPr>
              <a:lnSpc>
                <a:spcPct val="100000"/>
              </a:lnSpc>
            </a:pPr>
            <a:endParaRPr lang="en-US" sz="2400" dirty="0">
              <a:cs typeface="Times New Roman"/>
            </a:endParaRPr>
          </a:p>
          <a:p>
            <a:pPr marL="12700">
              <a:lnSpc>
                <a:spcPct val="100000"/>
              </a:lnSpc>
              <a:spcBef>
                <a:spcPts val="1155"/>
              </a:spcBef>
            </a:pPr>
            <a:r>
              <a:rPr lang="en-US" b="1" spc="-10" dirty="0">
                <a:cs typeface="Source Sans Pro"/>
              </a:rPr>
              <a:t>We have the data, now what?</a:t>
            </a:r>
            <a:endParaRPr lang="en-US" b="1" dirty="0">
              <a:cs typeface="Source Sans Pro"/>
            </a:endParaRPr>
          </a:p>
          <a:p>
            <a:pPr marL="12700">
              <a:lnSpc>
                <a:spcPct val="100000"/>
              </a:lnSpc>
              <a:spcBef>
                <a:spcPts val="350"/>
              </a:spcBef>
            </a:pPr>
            <a:r>
              <a:rPr lang="en-US" dirty="0">
                <a:cs typeface="Source Sans Pro Light"/>
              </a:rPr>
              <a:t>Give the model the TEM of Herpes Simplex:</a:t>
            </a:r>
          </a:p>
          <a:p>
            <a:pPr marL="12700">
              <a:lnSpc>
                <a:spcPct val="100000"/>
              </a:lnSpc>
              <a:spcBef>
                <a:spcPts val="350"/>
              </a:spcBef>
            </a:pPr>
            <a:r>
              <a:rPr lang="en-US" dirty="0" err="1">
                <a:cs typeface="Source Sans Pro Light"/>
              </a:rPr>
              <a:t>img</a:t>
            </a:r>
            <a:r>
              <a:rPr lang="en-US" dirty="0">
                <a:cs typeface="Source Sans Pro Light"/>
              </a:rPr>
              <a:t> = </a:t>
            </a:r>
            <a:r>
              <a:rPr lang="en-US" dirty="0" err="1">
                <a:cs typeface="Source Sans Pro Light"/>
              </a:rPr>
              <a:t>Image.open</a:t>
            </a:r>
            <a:r>
              <a:rPr lang="en-US" dirty="0">
                <a:cs typeface="Source Sans Pro Light"/>
              </a:rPr>
              <a:t>(</a:t>
            </a:r>
            <a:r>
              <a:rPr lang="en-US" dirty="0" err="1">
                <a:cs typeface="Source Sans Pro Light"/>
              </a:rPr>
              <a:t>input_image_path</a:t>
            </a:r>
            <a:r>
              <a:rPr lang="en-US" dirty="0">
                <a:cs typeface="Source Sans Pro Light"/>
              </a:rPr>
              <a:t>).convert("RGB")</a:t>
            </a:r>
          </a:p>
          <a:p>
            <a:pPr marL="12700">
              <a:lnSpc>
                <a:spcPct val="100000"/>
              </a:lnSpc>
              <a:spcBef>
                <a:spcPts val="350"/>
              </a:spcBef>
            </a:pPr>
            <a:endParaRPr lang="en-US" dirty="0">
              <a:cs typeface="Source Sans Pro Light"/>
            </a:endParaRPr>
          </a:p>
          <a:p>
            <a:pPr marL="12700">
              <a:lnSpc>
                <a:spcPct val="100000"/>
              </a:lnSpc>
              <a:spcBef>
                <a:spcPts val="350"/>
              </a:spcBef>
            </a:pPr>
            <a:r>
              <a:rPr lang="en-US" dirty="0" err="1">
                <a:cs typeface="Source Sans Pro Light"/>
              </a:rPr>
              <a:t>predicted_class</a:t>
            </a:r>
            <a:r>
              <a:rPr lang="en-US" dirty="0">
                <a:cs typeface="Source Sans Pro Light"/>
              </a:rPr>
              <a:t>, confidence = </a:t>
            </a:r>
            <a:r>
              <a:rPr lang="en-US" dirty="0" err="1">
                <a:cs typeface="Source Sans Pro Light"/>
              </a:rPr>
              <a:t>predict_virus</a:t>
            </a:r>
            <a:r>
              <a:rPr lang="en-US" dirty="0">
                <a:cs typeface="Source Sans Pro Light"/>
              </a:rPr>
              <a:t>(</a:t>
            </a:r>
          </a:p>
          <a:p>
            <a:pPr marL="12700">
              <a:lnSpc>
                <a:spcPct val="100000"/>
              </a:lnSpc>
              <a:spcBef>
                <a:spcPts val="350"/>
              </a:spcBef>
            </a:pPr>
            <a:r>
              <a:rPr lang="en-US" dirty="0">
                <a:cs typeface="Source Sans Pro Light"/>
              </a:rPr>
              <a:t>    </a:t>
            </a:r>
            <a:r>
              <a:rPr lang="en-US" dirty="0" err="1">
                <a:cs typeface="Source Sans Pro Light"/>
              </a:rPr>
              <a:t>input_image_path</a:t>
            </a:r>
            <a:r>
              <a:rPr lang="en-US" dirty="0">
                <a:cs typeface="Source Sans Pro Light"/>
              </a:rPr>
              <a:t>,</a:t>
            </a:r>
          </a:p>
          <a:p>
            <a:pPr marL="12700">
              <a:lnSpc>
                <a:spcPct val="100000"/>
              </a:lnSpc>
              <a:spcBef>
                <a:spcPts val="350"/>
              </a:spcBef>
            </a:pPr>
            <a:r>
              <a:rPr lang="en-US" dirty="0">
                <a:cs typeface="Source Sans Pro Light"/>
              </a:rPr>
              <a:t>    model,</a:t>
            </a:r>
          </a:p>
          <a:p>
            <a:pPr marL="12700">
              <a:lnSpc>
                <a:spcPct val="100000"/>
              </a:lnSpc>
              <a:spcBef>
                <a:spcPts val="350"/>
              </a:spcBef>
            </a:pPr>
            <a:r>
              <a:rPr lang="en-US" dirty="0">
                <a:cs typeface="Source Sans Pro Light"/>
              </a:rPr>
              <a:t>    </a:t>
            </a:r>
            <a:r>
              <a:rPr lang="en-US" dirty="0" err="1">
                <a:cs typeface="Source Sans Pro Light"/>
              </a:rPr>
              <a:t>test_transform</a:t>
            </a:r>
            <a:r>
              <a:rPr lang="en-US" dirty="0">
                <a:cs typeface="Source Sans Pro Light"/>
              </a:rPr>
              <a:t>,</a:t>
            </a:r>
          </a:p>
          <a:p>
            <a:pPr marL="12700">
              <a:lnSpc>
                <a:spcPct val="100000"/>
              </a:lnSpc>
              <a:spcBef>
                <a:spcPts val="350"/>
              </a:spcBef>
            </a:pPr>
            <a:r>
              <a:rPr lang="en-US" dirty="0">
                <a:cs typeface="Source Sans Pro Light"/>
              </a:rPr>
              <a:t>    </a:t>
            </a:r>
            <a:r>
              <a:rPr lang="en-US" dirty="0" err="1">
                <a:cs typeface="Source Sans Pro Light"/>
              </a:rPr>
              <a:t>train_data.classes</a:t>
            </a:r>
            <a:endParaRPr lang="en-US" dirty="0">
              <a:cs typeface="Source Sans Pro Light"/>
            </a:endParaRPr>
          </a:p>
          <a:p>
            <a:pPr marL="12700">
              <a:lnSpc>
                <a:spcPct val="100000"/>
              </a:lnSpc>
              <a:spcBef>
                <a:spcPts val="350"/>
              </a:spcBef>
            </a:pPr>
            <a:r>
              <a:rPr lang="en-US" dirty="0">
                <a:cs typeface="Source Sans Pro Light"/>
              </a:rPr>
              <a:t>)</a:t>
            </a:r>
          </a:p>
          <a:p>
            <a:pPr>
              <a:lnSpc>
                <a:spcPct val="100000"/>
              </a:lnSpc>
              <a:spcBef>
                <a:spcPts val="45"/>
              </a:spcBef>
            </a:pPr>
            <a:r>
              <a:rPr lang="en-US" b="1" dirty="0">
                <a:cs typeface="Times New Roman"/>
              </a:rPr>
              <a:t>Plus generation of </a:t>
            </a:r>
            <a:r>
              <a:rPr lang="en-US" b="1" dirty="0" err="1">
                <a:cs typeface="Times New Roman"/>
              </a:rPr>
              <a:t>proteonomic</a:t>
            </a:r>
            <a:r>
              <a:rPr lang="en-US" b="1" dirty="0">
                <a:cs typeface="Times New Roman"/>
              </a:rPr>
              <a:t> code</a:t>
            </a:r>
          </a:p>
          <a:p>
            <a:pPr marL="12700">
              <a:lnSpc>
                <a:spcPct val="100000"/>
              </a:lnSpc>
            </a:pPr>
            <a:r>
              <a:rPr lang="en-US" dirty="0" err="1">
                <a:cs typeface="Times New Roman"/>
              </a:rPr>
              <a:t>generated_vh</a:t>
            </a:r>
            <a:r>
              <a:rPr lang="en-US" dirty="0">
                <a:cs typeface="Times New Roman"/>
              </a:rPr>
              <a:t> = </a:t>
            </a:r>
            <a:r>
              <a:rPr lang="en-US" dirty="0" err="1">
                <a:cs typeface="Times New Roman"/>
              </a:rPr>
              <a:t>generate_sequence</a:t>
            </a:r>
            <a:r>
              <a:rPr lang="en-US" dirty="0">
                <a:cs typeface="Times New Roman"/>
              </a:rPr>
              <a:t>(</a:t>
            </a:r>
          </a:p>
          <a:p>
            <a:pPr marL="12700">
              <a:lnSpc>
                <a:spcPct val="100000"/>
              </a:lnSpc>
            </a:pPr>
            <a:r>
              <a:rPr lang="en-US" dirty="0">
                <a:cs typeface="Times New Roman"/>
              </a:rPr>
              <a:t>    generators[</a:t>
            </a:r>
            <a:r>
              <a:rPr lang="en-US" dirty="0" err="1">
                <a:cs typeface="Times New Roman"/>
              </a:rPr>
              <a:t>predicted_class</a:t>
            </a:r>
            <a:r>
              <a:rPr lang="en-US" dirty="0">
                <a:cs typeface="Times New Roman"/>
              </a:rPr>
              <a:t>]["VH"]</a:t>
            </a:r>
          </a:p>
          <a:p>
            <a:pPr marL="12700">
              <a:lnSpc>
                <a:spcPct val="100000"/>
              </a:lnSpc>
            </a:pPr>
            <a:r>
              <a:rPr lang="en-US" dirty="0">
                <a:cs typeface="Times New Roman"/>
              </a:rPr>
              <a:t>)</a:t>
            </a:r>
          </a:p>
          <a:p>
            <a:pPr marL="12700">
              <a:lnSpc>
                <a:spcPct val="100000"/>
              </a:lnSpc>
            </a:pPr>
            <a:endParaRPr lang="en-US" dirty="0">
              <a:cs typeface="Times New Roman"/>
            </a:endParaRPr>
          </a:p>
          <a:p>
            <a:pPr marL="12700">
              <a:lnSpc>
                <a:spcPct val="100000"/>
              </a:lnSpc>
            </a:pPr>
            <a:r>
              <a:rPr lang="en-US" dirty="0" err="1">
                <a:cs typeface="Times New Roman"/>
              </a:rPr>
              <a:t>generated_vl</a:t>
            </a:r>
            <a:r>
              <a:rPr lang="en-US" dirty="0">
                <a:cs typeface="Times New Roman"/>
              </a:rPr>
              <a:t> = </a:t>
            </a:r>
            <a:r>
              <a:rPr lang="en-US" dirty="0" err="1">
                <a:cs typeface="Times New Roman"/>
              </a:rPr>
              <a:t>generate_sequence</a:t>
            </a:r>
            <a:r>
              <a:rPr lang="en-US" dirty="0">
                <a:cs typeface="Times New Roman"/>
              </a:rPr>
              <a:t>(</a:t>
            </a:r>
          </a:p>
          <a:p>
            <a:pPr marL="12700">
              <a:lnSpc>
                <a:spcPct val="100000"/>
              </a:lnSpc>
            </a:pPr>
            <a:r>
              <a:rPr lang="en-US" dirty="0">
                <a:cs typeface="Times New Roman"/>
              </a:rPr>
              <a:t>    generators[</a:t>
            </a:r>
            <a:r>
              <a:rPr lang="en-US" dirty="0" err="1">
                <a:cs typeface="Times New Roman"/>
              </a:rPr>
              <a:t>predicted_class</a:t>
            </a:r>
            <a:r>
              <a:rPr lang="en-US" dirty="0">
                <a:cs typeface="Times New Roman"/>
              </a:rPr>
              <a:t>]["VL"]</a:t>
            </a:r>
          </a:p>
          <a:p>
            <a:pPr marL="12700">
              <a:lnSpc>
                <a:spcPct val="100000"/>
              </a:lnSpc>
            </a:pPr>
            <a:r>
              <a:rPr lang="en-US" dirty="0">
                <a:cs typeface="Times New Roman"/>
              </a:rPr>
              <a:t>)</a:t>
            </a:r>
            <a:endParaRPr lang="en-US" dirty="0">
              <a:cs typeface="Source Sans Pro Light"/>
            </a:endParaRPr>
          </a:p>
          <a:p>
            <a:pPr marL="12700">
              <a:lnSpc>
                <a:spcPct val="100000"/>
              </a:lnSpc>
              <a:spcBef>
                <a:spcPts val="350"/>
              </a:spcBef>
            </a:pPr>
            <a:endParaRPr lang="en-US" dirty="0">
              <a:cs typeface="Source Sans Pro Light"/>
            </a:endParaRPr>
          </a:p>
        </p:txBody>
      </p:sp>
      <p:pic>
        <p:nvPicPr>
          <p:cNvPr id="6" name="Picture 5">
            <a:extLst>
              <a:ext uri="{FF2B5EF4-FFF2-40B4-BE49-F238E27FC236}">
                <a16:creationId xmlns:a16="http://schemas.microsoft.com/office/drawing/2014/main" id="{E597678A-8C12-C2E8-C18A-C22FB3AA9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5556" y="7099300"/>
            <a:ext cx="9620744" cy="2254366"/>
          </a:xfrm>
          <a:prstGeom prst="rect">
            <a:avLst/>
          </a:prstGeom>
        </p:spPr>
      </p:pic>
      <p:pic>
        <p:nvPicPr>
          <p:cNvPr id="8" name="Picture 7">
            <a:extLst>
              <a:ext uri="{FF2B5EF4-FFF2-40B4-BE49-F238E27FC236}">
                <a16:creationId xmlns:a16="http://schemas.microsoft.com/office/drawing/2014/main" id="{0E9884D0-6BAD-2115-039A-1CFCA0FEB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8057" y="3695810"/>
            <a:ext cx="3810000" cy="3211346"/>
          </a:xfrm>
          <a:prstGeom prst="rect">
            <a:avLst/>
          </a:prstGeom>
        </p:spPr>
      </p:pic>
      <p:sp>
        <p:nvSpPr>
          <p:cNvPr id="9" name="TextBox 8">
            <a:extLst>
              <a:ext uri="{FF2B5EF4-FFF2-40B4-BE49-F238E27FC236}">
                <a16:creationId xmlns:a16="http://schemas.microsoft.com/office/drawing/2014/main" id="{5BAED371-CEB3-9176-E76D-7543B27A5BFA}"/>
              </a:ext>
            </a:extLst>
          </p:cNvPr>
          <p:cNvSpPr txBox="1"/>
          <p:nvPr/>
        </p:nvSpPr>
        <p:spPr>
          <a:xfrm>
            <a:off x="9675498" y="6189462"/>
            <a:ext cx="3352800" cy="646331"/>
          </a:xfrm>
          <a:prstGeom prst="rect">
            <a:avLst/>
          </a:prstGeom>
          <a:noFill/>
        </p:spPr>
        <p:txBody>
          <a:bodyPr wrap="square" rtlCol="0">
            <a:spAutoFit/>
          </a:bodyPr>
          <a:lstStyle/>
          <a:p>
            <a:r>
              <a:rPr lang="en-US" sz="1200" dirty="0"/>
              <a:t>Figure 5. Confusion matrix of CNN model, included here to show the competency of this model in guessing a virus’s classification.</a:t>
            </a:r>
          </a:p>
        </p:txBody>
      </p:sp>
      <p:sp>
        <p:nvSpPr>
          <p:cNvPr id="10" name="TextBox 9">
            <a:extLst>
              <a:ext uri="{FF2B5EF4-FFF2-40B4-BE49-F238E27FC236}">
                <a16:creationId xmlns:a16="http://schemas.microsoft.com/office/drawing/2014/main" id="{D9131119-BCA9-BBA5-C4CA-4392B22D7556}"/>
              </a:ext>
            </a:extLst>
          </p:cNvPr>
          <p:cNvSpPr txBox="1"/>
          <p:nvPr/>
        </p:nvSpPr>
        <p:spPr>
          <a:xfrm>
            <a:off x="8362156" y="7404100"/>
            <a:ext cx="5867400" cy="461665"/>
          </a:xfrm>
          <a:prstGeom prst="rect">
            <a:avLst/>
          </a:prstGeom>
          <a:noFill/>
        </p:spPr>
        <p:txBody>
          <a:bodyPr wrap="square" rtlCol="0">
            <a:spAutoFit/>
          </a:bodyPr>
          <a:lstStyle/>
          <a:p>
            <a:r>
              <a:rPr lang="en-US" sz="1200" dirty="0"/>
              <a:t>Figure 6. Output of </a:t>
            </a:r>
            <a:r>
              <a:rPr lang="en-US" sz="1200" dirty="0" err="1"/>
              <a:t>proteonomic</a:t>
            </a:r>
            <a:r>
              <a:rPr lang="en-US" sz="1200" dirty="0"/>
              <a:t> code alongside the competence test. Since it was not trained on herpes, influenza was the next best guess for it.  </a:t>
            </a:r>
          </a:p>
        </p:txBody>
      </p:sp>
      <p:sp>
        <p:nvSpPr>
          <p:cNvPr id="2" name="Slide Number Placeholder 1">
            <a:extLst>
              <a:ext uri="{FF2B5EF4-FFF2-40B4-BE49-F238E27FC236}">
                <a16:creationId xmlns:a16="http://schemas.microsoft.com/office/drawing/2014/main" id="{BB7D6C00-2B39-75AB-0FE6-87C997135D40}"/>
              </a:ext>
            </a:extLst>
          </p:cNvPr>
          <p:cNvSpPr>
            <a:spLocks noGrp="1"/>
          </p:cNvSpPr>
          <p:nvPr>
            <p:ph type="sldNum" sz="quarter" idx="12"/>
          </p:nvPr>
        </p:nvSpPr>
        <p:spPr/>
        <p:txBody>
          <a:bodyPr/>
          <a:lstStyle/>
          <a:p>
            <a:fld id="{B6F15528-21DE-4FAA-801E-634DDDAF4B2B}" type="slidenum">
              <a:rPr lang="cs-CZ" smtClean="0"/>
              <a:t>6</a:t>
            </a:fld>
            <a:endParaRPr lang="cs-CZ"/>
          </a:p>
        </p:txBody>
      </p:sp>
      <p:pic>
        <p:nvPicPr>
          <p:cNvPr id="4" name="Picture 3">
            <a:extLst>
              <a:ext uri="{FF2B5EF4-FFF2-40B4-BE49-F238E27FC236}">
                <a16:creationId xmlns:a16="http://schemas.microsoft.com/office/drawing/2014/main" id="{9F381831-A1E5-8DEE-8568-CCC06F126B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5497" y="1410547"/>
            <a:ext cx="9486263" cy="2006710"/>
          </a:xfrm>
          <a:prstGeom prst="rect">
            <a:avLst/>
          </a:prstGeom>
        </p:spPr>
      </p:pic>
      <p:sp>
        <p:nvSpPr>
          <p:cNvPr id="5" name="TextBox 4">
            <a:extLst>
              <a:ext uri="{FF2B5EF4-FFF2-40B4-BE49-F238E27FC236}">
                <a16:creationId xmlns:a16="http://schemas.microsoft.com/office/drawing/2014/main" id="{DB1C2171-9D7A-F5D0-0862-17DB7AD23534}"/>
              </a:ext>
            </a:extLst>
          </p:cNvPr>
          <p:cNvSpPr txBox="1"/>
          <p:nvPr/>
        </p:nvSpPr>
        <p:spPr>
          <a:xfrm>
            <a:off x="9848057" y="3517900"/>
            <a:ext cx="7106413" cy="276999"/>
          </a:xfrm>
          <a:prstGeom prst="rect">
            <a:avLst/>
          </a:prstGeom>
          <a:noFill/>
        </p:spPr>
        <p:txBody>
          <a:bodyPr wrap="square" rtlCol="0">
            <a:spAutoFit/>
          </a:bodyPr>
          <a:lstStyle/>
          <a:p>
            <a:r>
              <a:rPr lang="en-US" sz="1200" b="1" dirty="0"/>
              <a:t>Figure 4.</a:t>
            </a:r>
            <a:r>
              <a:rPr lang="en-US" sz="1200" dirty="0"/>
              <a:t> Table of  dataset construction, placed here due to lack of space on previous slide.</a:t>
            </a:r>
            <a:endParaRPr lang="en-US" sz="1200" b="1" dirty="0"/>
          </a:p>
        </p:txBody>
      </p:sp>
    </p:spTree>
    <p:extLst>
      <p:ext uri="{BB962C8B-B14F-4D97-AF65-F5344CB8AC3E}">
        <p14:creationId xmlns:p14="http://schemas.microsoft.com/office/powerpoint/2010/main" val="48187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1" y="546100"/>
            <a:ext cx="7351711" cy="828000"/>
            <a:chOff x="-776065" y="8642689"/>
            <a:chExt cx="4837090" cy="439424"/>
          </a:xfrm>
        </p:grpSpPr>
        <p:sp>
          <p:nvSpPr>
            <p:cNvPr id="24" name="object 4">
              <a:extLst>
                <a:ext uri="{FF2B5EF4-FFF2-40B4-BE49-F238E27FC236}">
                  <a16:creationId xmlns:a16="http://schemas.microsoft.com/office/drawing/2014/main" id="{FAC1F606-62F6-4305-800B-EF4BDCC04BC6}"/>
                </a:ext>
              </a:extLst>
            </p:cNvPr>
            <p:cNvSpPr/>
            <p:nvPr/>
          </p:nvSpPr>
          <p:spPr>
            <a:xfrm>
              <a:off x="-776065" y="8642693"/>
              <a:ext cx="4620991"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dirty="0"/>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65956" y="774700"/>
            <a:ext cx="15011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Validation</a:t>
            </a:r>
            <a:endParaRPr lang="en-US" sz="2800" dirty="0">
              <a:cs typeface="Source Sans Pro Light"/>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971550" y="1689100"/>
            <a:ext cx="11048206" cy="2065565"/>
          </a:xfrm>
          <a:prstGeom prst="rect">
            <a:avLst/>
          </a:prstGeom>
        </p:spPr>
        <p:txBody>
          <a:bodyPr vert="horz" wrap="square" lIns="0" tIns="5080" rIns="0" bIns="0" rtlCol="0">
            <a:spAutoFit/>
          </a:bodyPr>
          <a:lstStyle/>
          <a:p>
            <a:pPr marL="12700">
              <a:lnSpc>
                <a:spcPct val="100000"/>
              </a:lnSpc>
              <a:spcBef>
                <a:spcPts val="100"/>
              </a:spcBef>
            </a:pPr>
            <a:r>
              <a:rPr lang="en-US" b="1" spc="-15" dirty="0">
                <a:cs typeface="Source Sans Pro"/>
              </a:rPr>
              <a:t>What is to be done with the chains?</a:t>
            </a:r>
            <a:endParaRPr lang="en-US" b="1" dirty="0">
              <a:cs typeface="Source Sans Pro"/>
            </a:endParaRPr>
          </a:p>
          <a:p>
            <a:pPr marL="12700">
              <a:lnSpc>
                <a:spcPct val="100000"/>
              </a:lnSpc>
            </a:pPr>
            <a:r>
              <a:rPr lang="en-US" spc="-5" dirty="0">
                <a:cs typeface="Source Sans Pro Light"/>
              </a:rPr>
              <a:t>Luckily, Immune Epitope Database also has antibody data for herpes, so a comparison to actual antibodies can be done with the generated code. A random sequence would generate 5-15</a:t>
            </a:r>
            <a:r>
              <a:rPr lang="en-US" spc="-5">
                <a:cs typeface="Source Sans Pro Light"/>
              </a:rPr>
              <a:t>% similarity, so Score&gt;15% is the goal.</a:t>
            </a:r>
            <a:endParaRPr lang="en-US" dirty="0">
              <a:cs typeface="Source Sans Pro Light"/>
            </a:endParaRPr>
          </a:p>
          <a:p>
            <a:pPr>
              <a:lnSpc>
                <a:spcPct val="100000"/>
              </a:lnSpc>
            </a:pPr>
            <a:endParaRPr lang="en-US" sz="2000" dirty="0">
              <a:cs typeface="Times New Roman"/>
            </a:endParaRPr>
          </a:p>
          <a:p>
            <a:pPr>
              <a:lnSpc>
                <a:spcPct val="100000"/>
              </a:lnSpc>
            </a:pPr>
            <a:r>
              <a:rPr lang="en-US" sz="2000" dirty="0" err="1">
                <a:cs typeface="Times New Roman"/>
              </a:rPr>
              <a:t>SequenceMatcher</a:t>
            </a:r>
            <a:r>
              <a:rPr lang="en-US" sz="2000" dirty="0">
                <a:cs typeface="Times New Roman"/>
              </a:rPr>
              <a:t>(None, </a:t>
            </a:r>
            <a:r>
              <a:rPr lang="en-US" sz="2000" dirty="0" err="1">
                <a:cs typeface="Times New Roman"/>
              </a:rPr>
              <a:t>generated_seq</a:t>
            </a:r>
            <a:r>
              <a:rPr lang="en-US" sz="2000" dirty="0">
                <a:cs typeface="Times New Roman"/>
              </a:rPr>
              <a:t>, </a:t>
            </a:r>
            <a:r>
              <a:rPr lang="en-US" sz="2000" dirty="0" err="1">
                <a:cs typeface="Times New Roman"/>
              </a:rPr>
              <a:t>reference_seq</a:t>
            </a:r>
            <a:r>
              <a:rPr lang="en-US" sz="2000" dirty="0">
                <a:cs typeface="Times New Roman"/>
              </a:rPr>
              <a:t>).ratio()</a:t>
            </a:r>
          </a:p>
          <a:p>
            <a:pPr>
              <a:lnSpc>
                <a:spcPct val="100000"/>
              </a:lnSpc>
            </a:pPr>
            <a:endParaRPr lang="en-US" sz="2000" dirty="0">
              <a:cs typeface="Times New Roman"/>
            </a:endParaRPr>
          </a:p>
          <a:p>
            <a:pPr marL="12700" marR="5080" algn="just">
              <a:lnSpc>
                <a:spcPct val="118100"/>
              </a:lnSpc>
            </a:pPr>
            <a:endParaRPr lang="en-US" dirty="0">
              <a:cs typeface="Source Sans Pro Light"/>
            </a:endParaRPr>
          </a:p>
        </p:txBody>
      </p:sp>
      <p:pic>
        <p:nvPicPr>
          <p:cNvPr id="6" name="Picture 5">
            <a:extLst>
              <a:ext uri="{FF2B5EF4-FFF2-40B4-BE49-F238E27FC236}">
                <a16:creationId xmlns:a16="http://schemas.microsoft.com/office/drawing/2014/main" id="{4FCB133E-BAAC-54CB-5947-F7CE90794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758" y="3447952"/>
            <a:ext cx="8161958" cy="5174176"/>
          </a:xfrm>
          <a:prstGeom prst="rect">
            <a:avLst/>
          </a:prstGeom>
        </p:spPr>
      </p:pic>
      <p:sp>
        <p:nvSpPr>
          <p:cNvPr id="27" name="TextBox 26"/>
          <p:cNvSpPr txBox="1"/>
          <p:nvPr/>
        </p:nvSpPr>
        <p:spPr>
          <a:xfrm>
            <a:off x="437356" y="8625110"/>
            <a:ext cx="7669279" cy="307777"/>
          </a:xfrm>
          <a:prstGeom prst="rect">
            <a:avLst/>
          </a:prstGeom>
          <a:noFill/>
        </p:spPr>
        <p:txBody>
          <a:bodyPr wrap="none">
            <a:spAutoFit/>
          </a:bodyPr>
          <a:lstStyle/>
          <a:p>
            <a:r>
              <a:rPr sz="1400" i="1" dirty="0"/>
              <a:t>Fig</a:t>
            </a:r>
            <a:r>
              <a:rPr lang="en-US" sz="1400" i="1" dirty="0"/>
              <a:t> 7.</a:t>
            </a:r>
            <a:r>
              <a:rPr sz="1400" i="1" dirty="0"/>
              <a:t>. Probabilistic antibody sequence generation process using VH/VL amino acid transition patterns.</a:t>
            </a:r>
          </a:p>
        </p:txBody>
      </p:sp>
      <p:sp>
        <p:nvSpPr>
          <p:cNvPr id="29" name="TextBox 28"/>
          <p:cNvSpPr txBox="1"/>
          <p:nvPr/>
        </p:nvSpPr>
        <p:spPr>
          <a:xfrm>
            <a:off x="5621735" y="4578836"/>
            <a:ext cx="3657600" cy="274320"/>
          </a:xfrm>
          <a:prstGeom prst="rect">
            <a:avLst/>
          </a:prstGeom>
          <a:noFill/>
        </p:spPr>
        <p:txBody>
          <a:bodyPr wrap="none">
            <a:spAutoFit/>
          </a:bodyPr>
          <a:lstStyle/>
          <a:p>
            <a:r>
              <a:rPr sz="1600" i="1" dirty="0"/>
              <a:t>(IEDB Herpes Receptor Dataset)</a:t>
            </a:r>
          </a:p>
        </p:txBody>
      </p:sp>
      <p:sp>
        <p:nvSpPr>
          <p:cNvPr id="2" name="Slide Number Placeholder 1">
            <a:extLst>
              <a:ext uri="{FF2B5EF4-FFF2-40B4-BE49-F238E27FC236}">
                <a16:creationId xmlns:a16="http://schemas.microsoft.com/office/drawing/2014/main" id="{D200F95C-1C45-4F1C-6AE1-9BF4AD6BAF2A}"/>
              </a:ext>
            </a:extLst>
          </p:cNvPr>
          <p:cNvSpPr>
            <a:spLocks noGrp="1"/>
          </p:cNvSpPr>
          <p:nvPr>
            <p:ph type="sldNum" sz="quarter" idx="12"/>
          </p:nvPr>
        </p:nvSpPr>
        <p:spPr/>
        <p:txBody>
          <a:bodyPr/>
          <a:lstStyle/>
          <a:p>
            <a:fld id="{B6F15528-21DE-4FAA-801E-634DDDAF4B2B}" type="slidenum">
              <a:rPr lang="cs-CZ" smtClean="0"/>
              <a:t>7</a:t>
            </a:fld>
            <a:endParaRPr lang="cs-CZ"/>
          </a:p>
        </p:txBody>
      </p:sp>
      <p:sp>
        <p:nvSpPr>
          <p:cNvPr id="3" name="TextBox 2">
            <a:extLst>
              <a:ext uri="{FF2B5EF4-FFF2-40B4-BE49-F238E27FC236}">
                <a16:creationId xmlns:a16="http://schemas.microsoft.com/office/drawing/2014/main" id="{EA623F31-1A68-7014-C402-E0E0D3D11B0F}"/>
              </a:ext>
            </a:extLst>
          </p:cNvPr>
          <p:cNvSpPr txBox="1"/>
          <p:nvPr/>
        </p:nvSpPr>
        <p:spPr>
          <a:xfrm>
            <a:off x="437356" y="9309100"/>
            <a:ext cx="5943600" cy="646331"/>
          </a:xfrm>
          <a:prstGeom prst="rect">
            <a:avLst/>
          </a:prstGeom>
          <a:noFill/>
        </p:spPr>
        <p:txBody>
          <a:bodyPr wrap="square" rtlCol="0">
            <a:spAutoFit/>
          </a:bodyPr>
          <a:lstStyle/>
          <a:p>
            <a:r>
              <a:rPr lang="en-US" b="1" dirty="0"/>
              <a:t>Disclaimer: </a:t>
            </a:r>
            <a:r>
              <a:rPr lang="en-US" dirty="0"/>
              <a:t>No structural or binding validation is performed. There is no biological binding metric in the validation.</a:t>
            </a:r>
            <a:endParaRPr lang="en-US" b="1" dirty="0"/>
          </a:p>
        </p:txBody>
      </p:sp>
    </p:spTree>
    <p:extLst>
      <p:ext uri="{BB962C8B-B14F-4D97-AF65-F5344CB8AC3E}">
        <p14:creationId xmlns:p14="http://schemas.microsoft.com/office/powerpoint/2010/main" val="2396656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1" y="546100"/>
            <a:ext cx="9886156" cy="828000"/>
            <a:chOff x="-776065" y="8642689"/>
            <a:chExt cx="4837090" cy="439424"/>
          </a:xfrm>
        </p:grpSpPr>
        <p:sp>
          <p:nvSpPr>
            <p:cNvPr id="24" name="object 4">
              <a:extLst>
                <a:ext uri="{FF2B5EF4-FFF2-40B4-BE49-F238E27FC236}">
                  <a16:creationId xmlns:a16="http://schemas.microsoft.com/office/drawing/2014/main" id="{FAC1F606-62F6-4305-800B-EF4BDCC04BC6}"/>
                </a:ext>
              </a:extLst>
            </p:cNvPr>
            <p:cNvSpPr/>
            <p:nvPr/>
          </p:nvSpPr>
          <p:spPr>
            <a:xfrm>
              <a:off x="-776065" y="8642693"/>
              <a:ext cx="4620991"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665956" y="774700"/>
            <a:ext cx="15011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Conclusion and Takeaways</a:t>
            </a:r>
            <a:endParaRPr lang="en-US" sz="2800" dirty="0">
              <a:cs typeface="Source Sans Pro Light"/>
            </a:endParaRPr>
          </a:p>
        </p:txBody>
      </p:sp>
      <p:sp>
        <p:nvSpPr>
          <p:cNvPr id="12" name="object 10">
            <a:extLst>
              <a:ext uri="{FF2B5EF4-FFF2-40B4-BE49-F238E27FC236}">
                <a16:creationId xmlns:a16="http://schemas.microsoft.com/office/drawing/2014/main" id="{4B00ADBE-6249-46EB-B9DA-3742A4C1861C}"/>
              </a:ext>
            </a:extLst>
          </p:cNvPr>
          <p:cNvSpPr txBox="1"/>
          <p:nvPr/>
        </p:nvSpPr>
        <p:spPr>
          <a:xfrm>
            <a:off x="971551" y="1689100"/>
            <a:ext cx="5028406" cy="6620146"/>
          </a:xfrm>
          <a:prstGeom prst="rect">
            <a:avLst/>
          </a:prstGeom>
        </p:spPr>
        <p:txBody>
          <a:bodyPr vert="horz" wrap="square" lIns="0" tIns="5080" rIns="0" bIns="0" rtlCol="0">
            <a:spAutoFit/>
          </a:bodyPr>
          <a:lstStyle/>
          <a:p>
            <a:pPr marL="469900" marR="435609" indent="-457200">
              <a:lnSpc>
                <a:spcPct val="104200"/>
              </a:lnSpc>
              <a:buFont typeface="Arial" panose="020B0604020202020204" pitchFamily="34" charset="0"/>
              <a:buChar char="•"/>
            </a:pPr>
            <a:r>
              <a:rPr lang="en-US" dirty="0">
                <a:cs typeface="Source Sans Pro Light"/>
              </a:rPr>
              <a:t>Best Validation Accuracy: 90.7%</a:t>
            </a:r>
          </a:p>
          <a:p>
            <a:pPr marL="469900" marR="435609" indent="-457200">
              <a:lnSpc>
                <a:spcPct val="104200"/>
              </a:lnSpc>
              <a:buFont typeface="Arial" panose="020B0604020202020204" pitchFamily="34" charset="0"/>
              <a:buChar char="•"/>
            </a:pPr>
            <a:r>
              <a:rPr lang="en-US" dirty="0">
                <a:cs typeface="Source Sans Pro Light"/>
              </a:rPr>
              <a:t>Test Accuracy: 88.37% vs. Random classifier chance of 33% Or Majority Class Baseline of 78 (influenza)/ 185 (total)= 42.2% (classification is therefore not random).</a:t>
            </a:r>
          </a:p>
          <a:p>
            <a:pPr marL="469900" marR="435609" indent="-457200">
              <a:lnSpc>
                <a:spcPct val="104200"/>
              </a:lnSpc>
              <a:buFont typeface="Arial" panose="020B0604020202020204" pitchFamily="34" charset="0"/>
              <a:buChar char="•"/>
            </a:pPr>
            <a:r>
              <a:rPr lang="en-US" dirty="0">
                <a:cs typeface="Source Sans Pro Light"/>
              </a:rPr>
              <a:t>Adeno virus Antibody entries: 71</a:t>
            </a:r>
          </a:p>
          <a:p>
            <a:pPr marL="469900" marR="435609" indent="-457200">
              <a:lnSpc>
                <a:spcPct val="104200"/>
              </a:lnSpc>
              <a:buFont typeface="Arial" panose="020B0604020202020204" pitchFamily="34" charset="0"/>
              <a:buChar char="•"/>
            </a:pPr>
            <a:r>
              <a:rPr lang="en-US" dirty="0">
                <a:cs typeface="Source Sans Pro Light"/>
              </a:rPr>
              <a:t>Influenza Antibody entries: 206</a:t>
            </a:r>
          </a:p>
          <a:p>
            <a:pPr marL="469900" marR="435609" indent="-457200">
              <a:lnSpc>
                <a:spcPct val="104200"/>
              </a:lnSpc>
              <a:buFont typeface="Arial" panose="020B0604020202020204" pitchFamily="34" charset="0"/>
              <a:buChar char="•"/>
            </a:pPr>
            <a:r>
              <a:rPr lang="en-US" dirty="0">
                <a:cs typeface="Source Sans Pro Light"/>
              </a:rPr>
              <a:t>Pox entries Antibody: 145</a:t>
            </a:r>
          </a:p>
          <a:p>
            <a:pPr marL="469900" marR="435609" indent="-457200">
              <a:lnSpc>
                <a:spcPct val="104200"/>
              </a:lnSpc>
              <a:buFont typeface="Arial" panose="020B0604020202020204" pitchFamily="34" charset="0"/>
              <a:buChar char="•"/>
            </a:pPr>
            <a:r>
              <a:rPr lang="en-US" dirty="0">
                <a:cs typeface="Source Sans Pro Light"/>
              </a:rPr>
              <a:t>Final TEM dataset: 422 entries</a:t>
            </a:r>
          </a:p>
          <a:p>
            <a:pPr marL="469900" marR="435609" indent="-457200">
              <a:lnSpc>
                <a:spcPct val="104200"/>
              </a:lnSpc>
              <a:buFont typeface="Arial" panose="020B0604020202020204" pitchFamily="34" charset="0"/>
              <a:buChar char="•"/>
            </a:pPr>
            <a:r>
              <a:rPr lang="en-US" dirty="0">
                <a:cs typeface="Source Sans Pro Light"/>
              </a:rPr>
              <a:t>Herpes antibody entries: 72</a:t>
            </a:r>
          </a:p>
          <a:p>
            <a:pPr marL="469900" marR="435609" indent="-457200">
              <a:lnSpc>
                <a:spcPct val="104200"/>
              </a:lnSpc>
              <a:buFont typeface="Arial" panose="020B0604020202020204" pitchFamily="34" charset="0"/>
              <a:buChar char="•"/>
            </a:pPr>
            <a:r>
              <a:rPr lang="en-US" dirty="0">
                <a:cs typeface="Source Sans Pro Light"/>
              </a:rPr>
              <a:t>Confidence score of classification of Herpes: 68.7% (Compare again to RC and MC baselines)</a:t>
            </a:r>
          </a:p>
          <a:p>
            <a:pPr marL="469900" marR="435609" indent="-457200">
              <a:lnSpc>
                <a:spcPct val="104200"/>
              </a:lnSpc>
              <a:buFont typeface="Arial" panose="020B0604020202020204" pitchFamily="34" charset="0"/>
              <a:buChar char="•"/>
            </a:pPr>
            <a:r>
              <a:rPr lang="en-US" dirty="0"/>
              <a:t>Best VH similarity: 48.6%</a:t>
            </a:r>
          </a:p>
          <a:p>
            <a:pPr marL="469900" marR="435609" indent="-457200">
              <a:lnSpc>
                <a:spcPct val="104200"/>
              </a:lnSpc>
              <a:buFont typeface="Arial" panose="020B0604020202020204" pitchFamily="34" charset="0"/>
              <a:buChar char="•"/>
            </a:pPr>
            <a:r>
              <a:rPr lang="en-US" dirty="0"/>
              <a:t>Best VL similarity: 49.6</a:t>
            </a:r>
          </a:p>
          <a:p>
            <a:pPr marL="469900" marR="435609" indent="-457200">
              <a:lnSpc>
                <a:spcPct val="104200"/>
              </a:lnSpc>
              <a:buFont typeface="Arial" panose="020B0604020202020204" pitchFamily="34" charset="0"/>
              <a:buChar char="•"/>
            </a:pPr>
            <a:r>
              <a:rPr lang="en-US" dirty="0"/>
              <a:t>Best average similarity: 48.6%</a:t>
            </a:r>
          </a:p>
          <a:p>
            <a:pPr marL="469900" marR="435609" indent="-457200">
              <a:lnSpc>
                <a:spcPct val="104200"/>
              </a:lnSpc>
              <a:buFont typeface="Arial" panose="020B0604020202020204" pitchFamily="34" charset="0"/>
              <a:buChar char="•"/>
            </a:pPr>
            <a:endParaRPr lang="en-US" dirty="0"/>
          </a:p>
          <a:p>
            <a:pPr marL="469900" marR="435609" indent="-457200">
              <a:lnSpc>
                <a:spcPct val="104200"/>
              </a:lnSpc>
              <a:buFont typeface="Arial" panose="020B0604020202020204" pitchFamily="34" charset="0"/>
              <a:buChar char="•"/>
            </a:pPr>
            <a:endParaRPr lang="en-US" dirty="0">
              <a:cs typeface="Source Sans Pro Light"/>
            </a:endParaRPr>
          </a:p>
          <a:p>
            <a:pPr marL="469900" marR="435609" indent="-457200">
              <a:lnSpc>
                <a:spcPct val="104200"/>
              </a:lnSpc>
              <a:buFont typeface="Arial" panose="020B0604020202020204" pitchFamily="34" charset="0"/>
              <a:buChar char="•"/>
            </a:pPr>
            <a:endParaRPr lang="en-US" dirty="0"/>
          </a:p>
          <a:p>
            <a:pPr marL="469900" marR="435609" indent="-457200">
              <a:lnSpc>
                <a:spcPct val="104200"/>
              </a:lnSpc>
              <a:buFont typeface="Arial" panose="020B0604020202020204" pitchFamily="34" charset="0"/>
              <a:buChar char="•"/>
            </a:pPr>
            <a:endParaRPr lang="en-US" dirty="0"/>
          </a:p>
          <a:p>
            <a:pPr marL="469900" marR="435609" indent="-457200">
              <a:lnSpc>
                <a:spcPct val="104200"/>
              </a:lnSpc>
              <a:buFont typeface="Arial" panose="020B0604020202020204" pitchFamily="34" charset="0"/>
              <a:buChar char="•"/>
            </a:pPr>
            <a:endParaRPr lang="en-US" dirty="0"/>
          </a:p>
          <a:p>
            <a:pPr marL="12700" marR="435609">
              <a:lnSpc>
                <a:spcPct val="104200"/>
              </a:lnSpc>
            </a:pPr>
            <a:endParaRPr lang="en-US" dirty="0">
              <a:cs typeface="Source Sans Pro Light"/>
            </a:endParaRPr>
          </a:p>
          <a:p>
            <a:pPr marL="469900" marR="435609" indent="-457200">
              <a:lnSpc>
                <a:spcPct val="104200"/>
              </a:lnSpc>
              <a:buFont typeface="Arial" panose="020B0604020202020204" pitchFamily="34" charset="0"/>
              <a:buChar char="•"/>
            </a:pPr>
            <a:endParaRPr lang="en-US" dirty="0">
              <a:cs typeface="Source Sans Pro Light"/>
            </a:endParaRPr>
          </a:p>
        </p:txBody>
      </p:sp>
      <p:pic>
        <p:nvPicPr>
          <p:cNvPr id="4" name="Picture 3">
            <a:extLst>
              <a:ext uri="{FF2B5EF4-FFF2-40B4-BE49-F238E27FC236}">
                <a16:creationId xmlns:a16="http://schemas.microsoft.com/office/drawing/2014/main" id="{9F5F3544-7CE8-2ACA-2CF8-1D9EE0EBA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0974" y="3220233"/>
            <a:ext cx="11049000" cy="4891083"/>
          </a:xfrm>
          <a:prstGeom prst="rect">
            <a:avLst/>
          </a:prstGeom>
        </p:spPr>
      </p:pic>
      <p:sp>
        <p:nvSpPr>
          <p:cNvPr id="27" name="TextBox 26"/>
          <p:cNvSpPr txBox="1"/>
          <p:nvPr/>
        </p:nvSpPr>
        <p:spPr>
          <a:xfrm>
            <a:off x="284956" y="6261100"/>
            <a:ext cx="4687117" cy="307777"/>
          </a:xfrm>
          <a:prstGeom prst="rect">
            <a:avLst/>
          </a:prstGeom>
          <a:noFill/>
        </p:spPr>
        <p:txBody>
          <a:bodyPr wrap="none">
            <a:spAutoFit/>
          </a:bodyPr>
          <a:lstStyle/>
          <a:p>
            <a:r>
              <a:rPr sz="1400" i="1" dirty="0"/>
              <a:t>Fig </a:t>
            </a:r>
            <a:r>
              <a:rPr lang="en-US" sz="1400" i="1" dirty="0"/>
              <a:t>8</a:t>
            </a:r>
            <a:r>
              <a:rPr sz="1400" i="1" dirty="0"/>
              <a:t>. Herpes simplex evaluation against an unseen viral class.</a:t>
            </a:r>
          </a:p>
        </p:txBody>
      </p:sp>
      <p:sp>
        <p:nvSpPr>
          <p:cNvPr id="2" name="Slide Number Placeholder 1">
            <a:extLst>
              <a:ext uri="{FF2B5EF4-FFF2-40B4-BE49-F238E27FC236}">
                <a16:creationId xmlns:a16="http://schemas.microsoft.com/office/drawing/2014/main" id="{22AF947A-5BD3-2A65-9029-287D64FECEB0}"/>
              </a:ext>
            </a:extLst>
          </p:cNvPr>
          <p:cNvSpPr>
            <a:spLocks noGrp="1"/>
          </p:cNvSpPr>
          <p:nvPr>
            <p:ph type="sldNum" sz="quarter" idx="12"/>
          </p:nvPr>
        </p:nvSpPr>
        <p:spPr/>
        <p:txBody>
          <a:bodyPr/>
          <a:lstStyle/>
          <a:p>
            <a:fld id="{B6F15528-21DE-4FAA-801E-634DDDAF4B2B}" type="slidenum">
              <a:rPr lang="cs-CZ" smtClean="0"/>
              <a:t>8</a:t>
            </a:fld>
            <a:endParaRPr lang="cs-CZ"/>
          </a:p>
        </p:txBody>
      </p:sp>
    </p:spTree>
    <p:extLst>
      <p:ext uri="{BB962C8B-B14F-4D97-AF65-F5344CB8AC3E}">
        <p14:creationId xmlns:p14="http://schemas.microsoft.com/office/powerpoint/2010/main" val="123419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r>
              <a:rPr lang="en-US" sz="1800" dirty="0"/>
              <a:t>Goodfellow, I., Bengio, Y., &amp; Courville, A. (2016). </a:t>
            </a:r>
            <a:r>
              <a:rPr lang="en-US" sz="1800" i="1" dirty="0"/>
              <a:t>Deep learning</a:t>
            </a:r>
            <a:r>
              <a:rPr lang="en-US" sz="1800" dirty="0"/>
              <a:t>. MIT Press.</a:t>
            </a:r>
            <a:br>
              <a:rPr lang="en-US" sz="1800" dirty="0"/>
            </a:br>
            <a:r>
              <a:rPr lang="en-US" sz="1800" u="sng" dirty="0">
                <a:hlinkClick r:id="rId2"/>
              </a:rPr>
              <a:t>https://www.deeplearningbook.org/</a:t>
            </a:r>
            <a:endParaRPr lang="en-US" sz="1800" dirty="0"/>
          </a:p>
          <a:p>
            <a:r>
              <a:rPr lang="en-US" sz="1800" dirty="0"/>
              <a:t>Krizhevsky, A., </a:t>
            </a:r>
            <a:r>
              <a:rPr lang="en-US" sz="1800" dirty="0" err="1"/>
              <a:t>Sutskever</a:t>
            </a:r>
            <a:r>
              <a:rPr lang="en-US" sz="1800" dirty="0"/>
              <a:t>, I., &amp; Hinton, G. E. (2012).</a:t>
            </a:r>
            <a:br>
              <a:rPr lang="en-US" sz="1800" dirty="0"/>
            </a:br>
            <a:r>
              <a:rPr lang="en-US" sz="1800" dirty="0"/>
              <a:t>ImageNet classification with deep convolutional neural networks.</a:t>
            </a:r>
            <a:br>
              <a:rPr lang="en-US" sz="1800" dirty="0"/>
            </a:br>
            <a:r>
              <a:rPr lang="en-US" sz="1800" i="1" dirty="0"/>
              <a:t>Advances in Neural Information Processing Systems, 25</a:t>
            </a:r>
            <a:r>
              <a:rPr lang="en-US" sz="1800" dirty="0"/>
              <a:t>.</a:t>
            </a:r>
            <a:br>
              <a:rPr lang="en-US" sz="1800" dirty="0"/>
            </a:br>
            <a:r>
              <a:rPr lang="en-US" sz="1800" u="sng" dirty="0">
                <a:hlinkClick r:id="rId3"/>
              </a:rPr>
              <a:t>https://papers.nips.cc/paper/2012/hash/c399862d3b9d6b76c8436e924a68c45b-Abstract.html</a:t>
            </a:r>
            <a:endParaRPr lang="en-US" sz="1800" dirty="0"/>
          </a:p>
          <a:p>
            <a:r>
              <a:rPr lang="en-US" sz="1800" dirty="0"/>
              <a:t>Matuszewski, B. J., </a:t>
            </a:r>
            <a:r>
              <a:rPr lang="en-US" sz="1800" dirty="0" err="1"/>
              <a:t>Sintorn</a:t>
            </a:r>
            <a:r>
              <a:rPr lang="en-US" sz="1800" dirty="0"/>
              <a:t>, I.-M., &amp; Strand, R. (2021).</a:t>
            </a:r>
            <a:br>
              <a:rPr lang="en-US" sz="1800" dirty="0"/>
            </a:br>
            <a:r>
              <a:rPr lang="en-US" sz="1800" dirty="0"/>
              <a:t>TEM virus images: Benchmark dataset and deep learning classification.</a:t>
            </a:r>
            <a:br>
              <a:rPr lang="en-US" sz="1800" dirty="0"/>
            </a:br>
            <a:r>
              <a:rPr lang="en-US" sz="1800" i="1" dirty="0"/>
              <a:t>Computer Methods and Programs in Biomedicine, 209</a:t>
            </a:r>
            <a:r>
              <a:rPr lang="en-US" sz="1800" dirty="0"/>
              <a:t>, 106318.</a:t>
            </a:r>
            <a:br>
              <a:rPr lang="en-US" sz="1800" dirty="0"/>
            </a:br>
            <a:r>
              <a:rPr lang="en-US" sz="1800" u="sng" dirty="0">
                <a:hlinkClick r:id="rId4"/>
              </a:rPr>
              <a:t>https://www.sciencedirect.com/science/article/pii/S0169260721003928</a:t>
            </a:r>
            <a:endParaRPr lang="en-US" sz="1800" dirty="0"/>
          </a:p>
          <a:p>
            <a:r>
              <a:rPr lang="en-US" sz="1900" dirty="0"/>
              <a:t>Immune Epitope Database (IEDB). (n.d.). </a:t>
            </a:r>
            <a:r>
              <a:rPr lang="en-US" sz="1900" i="1" dirty="0"/>
              <a:t>Immune Epitope Database and Analysis Resource</a:t>
            </a:r>
            <a:r>
              <a:rPr lang="en-US" sz="1900" dirty="0"/>
              <a:t>. National Institute of Allergy and Infectious Diseases. Retrieved May 6, 2026, from </a:t>
            </a:r>
            <a:r>
              <a:rPr lang="en-US" sz="1900" dirty="0">
                <a:hlinkClick r:id="rId5"/>
              </a:rPr>
              <a:t>https://www.iedb.org/</a:t>
            </a:r>
            <a:endParaRPr lang="en-US" sz="1900" dirty="0"/>
          </a:p>
          <a:p>
            <a:r>
              <a:rPr lang="en-US" sz="1900" dirty="0"/>
              <a:t>Protein Data Bank. (n.d.). </a:t>
            </a:r>
            <a:r>
              <a:rPr lang="en-US" sz="1900" i="1" dirty="0"/>
              <a:t>RCSB Protein Data Bank</a:t>
            </a:r>
            <a:r>
              <a:rPr lang="en-US" sz="1900" dirty="0"/>
              <a:t>. Worldwide Protein Data Bank. Retrieved May 6, 2026, from </a:t>
            </a:r>
            <a:r>
              <a:rPr lang="en-US" sz="1900" dirty="0">
                <a:hlinkClick r:id="rId6"/>
              </a:rPr>
              <a:t>https://www.rcsb.org/</a:t>
            </a:r>
            <a:endParaRPr lang="en-US" sz="1900" dirty="0"/>
          </a:p>
          <a:p>
            <a:r>
              <a:rPr lang="en-US" sz="1900" dirty="0"/>
              <a:t>Raybould, M. I. J., Marks, C., &amp; Deane, C. M. (n.d.). </a:t>
            </a:r>
            <a:r>
              <a:rPr lang="en-US" sz="1900" i="1" dirty="0"/>
              <a:t>Pox-</a:t>
            </a:r>
            <a:r>
              <a:rPr lang="en-US" sz="1900" i="1" dirty="0" err="1"/>
              <a:t>AbDab</a:t>
            </a:r>
            <a:r>
              <a:rPr lang="en-US" sz="1900" i="1" dirty="0"/>
              <a:t>: A database of antibodies against orthopoxviruses</a:t>
            </a:r>
            <a:r>
              <a:rPr lang="en-US" sz="1900" dirty="0"/>
              <a:t>. University of Oxford. Retrieved May 6, 2026, from </a:t>
            </a:r>
            <a:r>
              <a:rPr lang="en-US" sz="1900" dirty="0">
                <a:hlinkClick r:id="rId7"/>
              </a:rPr>
              <a:t>https://opig.stats.ox.ac.uk/webapps/poxabdab/</a:t>
            </a:r>
            <a:endParaRPr lang="en-US" sz="1900" dirty="0"/>
          </a:p>
          <a:p>
            <a:r>
              <a:rPr lang="en-US" sz="2000" dirty="0"/>
              <a:t>Centers for Disease Control and Prevention Museum. (2023). </a:t>
            </a:r>
            <a:r>
              <a:rPr lang="en-US" sz="2000" i="1" dirty="0"/>
              <a:t>CDC Museum COVID-19 timeline</a:t>
            </a:r>
            <a:r>
              <a:rPr lang="en-US" sz="2000" dirty="0"/>
              <a:t>. </a:t>
            </a:r>
            <a:r>
              <a:rPr lang="en-US" sz="2000" dirty="0">
                <a:hlinkClick r:id="rId8"/>
              </a:rPr>
              <a:t>https://www.cdc.gov/museum/timeline/covid19.html</a:t>
            </a:r>
            <a:endParaRPr lang="en-US" sz="2000" dirty="0"/>
          </a:p>
          <a:p>
            <a:endParaRPr lang="en-US" sz="1900" dirty="0"/>
          </a:p>
        </p:txBody>
      </p:sp>
      <p:sp>
        <p:nvSpPr>
          <p:cNvPr id="5" name="Slide Number Placeholder 4">
            <a:extLst>
              <a:ext uri="{FF2B5EF4-FFF2-40B4-BE49-F238E27FC236}">
                <a16:creationId xmlns:a16="http://schemas.microsoft.com/office/drawing/2014/main" id="{D3F260C8-4A6B-F956-8AB9-F156D5A0CBF1}"/>
              </a:ext>
            </a:extLst>
          </p:cNvPr>
          <p:cNvSpPr>
            <a:spLocks noGrp="1"/>
          </p:cNvSpPr>
          <p:nvPr>
            <p:ph type="sldNum" sz="quarter" idx="12"/>
          </p:nvPr>
        </p:nvSpPr>
        <p:spPr/>
        <p:txBody>
          <a:bodyPr/>
          <a:lstStyle/>
          <a:p>
            <a:fld id="{B6F15528-21DE-4FAA-801E-634DDDAF4B2B}" type="slidenum">
              <a:rPr lang="cs-CZ" smtClean="0"/>
              <a:t>9</a:t>
            </a:fld>
            <a:endParaRPr lang="cs-CZ"/>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HW12 Reflection Question 1</a:t>
            </a:r>
          </a:p>
        </p:txBody>
      </p:sp>
      <p:sp>
        <p:nvSpPr>
          <p:cNvPr id="3" name="Content Placeholder 2"/>
          <p:cNvSpPr>
            <a:spLocks noGrp="1"/>
          </p:cNvSpPr>
          <p:nvPr>
            <p:ph idx="1"/>
          </p:nvPr>
        </p:nvSpPr>
        <p:spPr/>
        <p:txBody>
          <a:bodyPr/>
          <a:lstStyle/>
          <a:p>
            <a:r>
              <a:rPr lang="en-US" i="1" dirty="0"/>
              <a:t>What aspect of AI did you find most technically challenging in completing this term project?</a:t>
            </a:r>
          </a:p>
          <a:p>
            <a:endParaRPr lang="en-US" i="1" dirty="0"/>
          </a:p>
          <a:p>
            <a:r>
              <a:rPr lang="en-US" sz="2800" dirty="0"/>
              <a:t>The hardest part was determining how many epochs would be necessary for accuracy. I settled on 25 as that consistently got ~90% accuracy.</a:t>
            </a:r>
          </a:p>
        </p:txBody>
      </p:sp>
      <p:sp>
        <p:nvSpPr>
          <p:cNvPr id="5" name="Slide Number Placeholder 4">
            <a:extLst>
              <a:ext uri="{FF2B5EF4-FFF2-40B4-BE49-F238E27FC236}">
                <a16:creationId xmlns:a16="http://schemas.microsoft.com/office/drawing/2014/main" id="{22F0D23D-669C-F2B3-44FD-DA56DE10C690}"/>
              </a:ext>
            </a:extLst>
          </p:cNvPr>
          <p:cNvSpPr>
            <a:spLocks noGrp="1"/>
          </p:cNvSpPr>
          <p:nvPr>
            <p:ph type="sldNum" sz="quarter" idx="12"/>
          </p:nvPr>
        </p:nvSpPr>
        <p:spPr/>
        <p:txBody>
          <a:bodyPr/>
          <a:lstStyle/>
          <a:p>
            <a:fld id="{B6F15528-21DE-4FAA-801E-634DDDAF4B2B}" type="slidenum">
              <a:rPr lang="cs-CZ" smtClean="0"/>
              <a:t>10</a:t>
            </a:fld>
            <a:endParaRPr lang="cs-CZ"/>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HW12 Reflection Question 2</a:t>
            </a:r>
          </a:p>
        </p:txBody>
      </p:sp>
      <p:sp>
        <p:nvSpPr>
          <p:cNvPr id="3" name="Content Placeholder 2"/>
          <p:cNvSpPr>
            <a:spLocks noGrp="1"/>
          </p:cNvSpPr>
          <p:nvPr>
            <p:ph idx="1"/>
          </p:nvPr>
        </p:nvSpPr>
        <p:spPr/>
        <p:txBody>
          <a:bodyPr/>
          <a:lstStyle/>
          <a:p>
            <a:r>
              <a:rPr lang="en-US" i="1" dirty="0"/>
              <a:t>What aspect of AI do you think you learned the most about over the course of the project?</a:t>
            </a:r>
          </a:p>
          <a:p>
            <a:endParaRPr lang="en-US" i="1" dirty="0"/>
          </a:p>
          <a:p>
            <a:r>
              <a:rPr lang="en-US" dirty="0"/>
              <a:t>That is hard to quantify as I came in with an empty cup. I think just the depth of how many classifications of AI exist was my biggest takeaway.</a:t>
            </a:r>
          </a:p>
        </p:txBody>
      </p:sp>
      <p:sp>
        <p:nvSpPr>
          <p:cNvPr id="5" name="Slide Number Placeholder 4">
            <a:extLst>
              <a:ext uri="{FF2B5EF4-FFF2-40B4-BE49-F238E27FC236}">
                <a16:creationId xmlns:a16="http://schemas.microsoft.com/office/drawing/2014/main" id="{AE652392-3789-48F9-7AA3-B484B2A9E919}"/>
              </a:ext>
            </a:extLst>
          </p:cNvPr>
          <p:cNvSpPr>
            <a:spLocks noGrp="1"/>
          </p:cNvSpPr>
          <p:nvPr>
            <p:ph type="sldNum" sz="quarter" idx="12"/>
          </p:nvPr>
        </p:nvSpPr>
        <p:spPr/>
        <p:txBody>
          <a:bodyPr/>
          <a:lstStyle/>
          <a:p>
            <a:fld id="{B6F15528-21DE-4FAA-801E-634DDDAF4B2B}" type="slidenum">
              <a:rPr lang="cs-CZ" smtClean="0"/>
              <a:t>11</a:t>
            </a:fld>
            <a:endParaRPr lang="cs-CZ"/>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HW12 Reflection Question 3</a:t>
            </a:r>
          </a:p>
        </p:txBody>
      </p:sp>
      <p:sp>
        <p:nvSpPr>
          <p:cNvPr id="3" name="Content Placeholder 2"/>
          <p:cNvSpPr>
            <a:spLocks noGrp="1"/>
          </p:cNvSpPr>
          <p:nvPr>
            <p:ph idx="1"/>
          </p:nvPr>
        </p:nvSpPr>
        <p:spPr/>
        <p:txBody>
          <a:bodyPr/>
          <a:lstStyle/>
          <a:p>
            <a:r>
              <a:rPr lang="en-US" i="1" dirty="0"/>
              <a:t>What is your top priority for future work, if you were to continue this project as a research project or in independent study?</a:t>
            </a:r>
          </a:p>
          <a:p>
            <a:endParaRPr lang="en-US" dirty="0"/>
          </a:p>
          <a:p>
            <a:r>
              <a:rPr lang="en-US" dirty="0"/>
              <a:t>This project was a proof of concept and I would prefer to develop actionable software. I would want to train the AI on larger datasets first and foremost, but after it would need to be trained on the chemical/physical properties of the 20 amino acids as at first glance I am not confident that the light chain is structurally sound. Ideally, this AI could create an actionable antibody sequence that could then be fabricated in a wet lab.</a:t>
            </a:r>
          </a:p>
        </p:txBody>
      </p:sp>
      <p:sp>
        <p:nvSpPr>
          <p:cNvPr id="5" name="Slide Number Placeholder 4">
            <a:extLst>
              <a:ext uri="{FF2B5EF4-FFF2-40B4-BE49-F238E27FC236}">
                <a16:creationId xmlns:a16="http://schemas.microsoft.com/office/drawing/2014/main" id="{74452DEB-237E-1962-1E7C-374E80617DDA}"/>
              </a:ext>
            </a:extLst>
          </p:cNvPr>
          <p:cNvSpPr>
            <a:spLocks noGrp="1"/>
          </p:cNvSpPr>
          <p:nvPr>
            <p:ph type="sldNum" sz="quarter" idx="12"/>
          </p:nvPr>
        </p:nvSpPr>
        <p:spPr/>
        <p:txBody>
          <a:bodyPr/>
          <a:lstStyle/>
          <a:p>
            <a:fld id="{B6F15528-21DE-4FAA-801E-634DDDAF4B2B}" type="slidenum">
              <a:rPr lang="cs-CZ" smtClean="0"/>
              <a:t>12</a:t>
            </a:fld>
            <a:endParaRPr lang="cs-CZ"/>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9EAB7-EB0E-CEAB-31C8-87D7F682E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2D31D-BE99-CC77-E7BE-FD5AF72CB098}"/>
              </a:ext>
            </a:extLst>
          </p:cNvPr>
          <p:cNvSpPr>
            <a:spLocks noGrp="1"/>
          </p:cNvSpPr>
          <p:nvPr>
            <p:ph type="title"/>
          </p:nvPr>
        </p:nvSpPr>
        <p:spPr/>
        <p:txBody>
          <a:bodyPr/>
          <a:lstStyle/>
          <a:p>
            <a:r>
              <a:rPr lang="en-US" dirty="0"/>
              <a:t>Interview Question Q4</a:t>
            </a:r>
            <a:endParaRPr dirty="0"/>
          </a:p>
        </p:txBody>
      </p:sp>
      <p:sp>
        <p:nvSpPr>
          <p:cNvPr id="3" name="Content Placeholder 2">
            <a:extLst>
              <a:ext uri="{FF2B5EF4-FFF2-40B4-BE49-F238E27FC236}">
                <a16:creationId xmlns:a16="http://schemas.microsoft.com/office/drawing/2014/main" id="{F5EFDF92-CEB6-76F7-38EB-5C28A4D49CB1}"/>
              </a:ext>
            </a:extLst>
          </p:cNvPr>
          <p:cNvSpPr>
            <a:spLocks noGrp="1"/>
          </p:cNvSpPr>
          <p:nvPr>
            <p:ph idx="1"/>
          </p:nvPr>
        </p:nvSpPr>
        <p:spPr/>
        <p:txBody>
          <a:bodyPr>
            <a:normAutofit lnSpcReduction="10000"/>
          </a:bodyPr>
          <a:lstStyle/>
          <a:p>
            <a:pPr lvl="0"/>
            <a:r>
              <a:rPr lang="en-US" dirty="0"/>
              <a:t>Your project is currently framed under the 'Agentic AI' track. However, looking at your final architecture (Image → CNN → Class → Markov Model → Sequence), this operates strictly as a feed-forward, multimodal prediction pipeline. What specific component of this system demonstrates autonomous decision-making, environment interaction, or policy optimization that justifies the 'Agent' label?</a:t>
            </a:r>
          </a:p>
          <a:p>
            <a:endParaRPr lang="en-US" dirty="0"/>
          </a:p>
          <a:p>
            <a:r>
              <a:rPr lang="en-US" dirty="0"/>
              <a:t>The project would likely be more accurately described as a multimodal perception and generative prediction pipeline. The justification is due to the perception portion, not the agent. CV would be the better label in this case.</a:t>
            </a:r>
          </a:p>
        </p:txBody>
      </p:sp>
      <p:sp>
        <p:nvSpPr>
          <p:cNvPr id="5" name="Slide Number Placeholder 4">
            <a:extLst>
              <a:ext uri="{FF2B5EF4-FFF2-40B4-BE49-F238E27FC236}">
                <a16:creationId xmlns:a16="http://schemas.microsoft.com/office/drawing/2014/main" id="{49BA0084-3C1F-B084-989D-ACB895A4D80C}"/>
              </a:ext>
            </a:extLst>
          </p:cNvPr>
          <p:cNvSpPr>
            <a:spLocks noGrp="1"/>
          </p:cNvSpPr>
          <p:nvPr>
            <p:ph type="sldNum" sz="quarter" idx="12"/>
          </p:nvPr>
        </p:nvSpPr>
        <p:spPr/>
        <p:txBody>
          <a:bodyPr/>
          <a:lstStyle/>
          <a:p>
            <a:fld id="{B6F15528-21DE-4FAA-801E-634DDDAF4B2B}" type="slidenum">
              <a:rPr lang="cs-CZ" smtClean="0"/>
              <a:t>13</a:t>
            </a:fld>
            <a:endParaRPr lang="cs-CZ"/>
          </a:p>
        </p:txBody>
      </p:sp>
    </p:spTree>
    <p:extLst>
      <p:ext uri="{BB962C8B-B14F-4D97-AF65-F5344CB8AC3E}">
        <p14:creationId xmlns:p14="http://schemas.microsoft.com/office/powerpoint/2010/main" val="1847693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8659E-2B9A-B86F-201A-DA227CEB4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0AEF7-295A-120B-7E67-ED0539332230}"/>
              </a:ext>
            </a:extLst>
          </p:cNvPr>
          <p:cNvSpPr>
            <a:spLocks noGrp="1"/>
          </p:cNvSpPr>
          <p:nvPr>
            <p:ph type="title"/>
          </p:nvPr>
        </p:nvSpPr>
        <p:spPr/>
        <p:txBody>
          <a:bodyPr/>
          <a:lstStyle/>
          <a:p>
            <a:r>
              <a:rPr lang="en-US" dirty="0"/>
              <a:t>Interview Question Q5</a:t>
            </a:r>
            <a:endParaRPr dirty="0"/>
          </a:p>
        </p:txBody>
      </p:sp>
      <p:sp>
        <p:nvSpPr>
          <p:cNvPr id="3" name="Content Placeholder 2">
            <a:extLst>
              <a:ext uri="{FF2B5EF4-FFF2-40B4-BE49-F238E27FC236}">
                <a16:creationId xmlns:a16="http://schemas.microsoft.com/office/drawing/2014/main" id="{908D192D-B862-89E8-E01C-605E53E7BE4C}"/>
              </a:ext>
            </a:extLst>
          </p:cNvPr>
          <p:cNvSpPr>
            <a:spLocks noGrp="1"/>
          </p:cNvSpPr>
          <p:nvPr>
            <p:ph idx="1"/>
          </p:nvPr>
        </p:nvSpPr>
        <p:spPr/>
        <p:txBody>
          <a:bodyPr>
            <a:normAutofit fontScale="92500" lnSpcReduction="20000"/>
          </a:bodyPr>
          <a:lstStyle/>
          <a:p>
            <a:pPr lvl="0"/>
            <a:r>
              <a:rPr lang="en-US" dirty="0"/>
              <a:t>The core achievement of your pipeline is that it generates </a:t>
            </a:r>
            <a:r>
              <a:rPr lang="en-US" i="1" dirty="0"/>
              <a:t>statistically plausible</a:t>
            </a:r>
            <a:r>
              <a:rPr lang="en-US" dirty="0"/>
              <a:t> amino acid sequences conditioned on a virus class. But as we know, an amino acid sequence does not equal a functional antibody unless it correctly folds and binds. If you were to take this project into next semester, how would you specifically integrate a structural validation step—perhaps using something like AlphaFold—to prove these generated sequences actually bind to the viral morphology your CNN detected?</a:t>
            </a:r>
          </a:p>
          <a:p>
            <a:endParaRPr lang="en-US" dirty="0"/>
          </a:p>
          <a:p>
            <a:r>
              <a:rPr lang="en-US" dirty="0"/>
              <a:t>Using Alpha fold would be the quickest option, and very well may be the next step, but ideally, the agent would be a standalone model. The next step would be to incorporate training on amino acids and textual data to train the AI to understand intermolecular interactions and begin teaching it on how proteins fold.</a:t>
            </a:r>
          </a:p>
        </p:txBody>
      </p:sp>
      <p:sp>
        <p:nvSpPr>
          <p:cNvPr id="5" name="Slide Number Placeholder 4">
            <a:extLst>
              <a:ext uri="{FF2B5EF4-FFF2-40B4-BE49-F238E27FC236}">
                <a16:creationId xmlns:a16="http://schemas.microsoft.com/office/drawing/2014/main" id="{E5F2EE33-FBEE-5836-444B-5CEFCF4E8F33}"/>
              </a:ext>
            </a:extLst>
          </p:cNvPr>
          <p:cNvSpPr>
            <a:spLocks noGrp="1"/>
          </p:cNvSpPr>
          <p:nvPr>
            <p:ph type="sldNum" sz="quarter" idx="12"/>
          </p:nvPr>
        </p:nvSpPr>
        <p:spPr/>
        <p:txBody>
          <a:bodyPr/>
          <a:lstStyle/>
          <a:p>
            <a:fld id="{B6F15528-21DE-4FAA-801E-634DDDAF4B2B}" type="slidenum">
              <a:rPr lang="cs-CZ" smtClean="0"/>
              <a:t>14</a:t>
            </a:fld>
            <a:endParaRPr lang="cs-CZ"/>
          </a:p>
        </p:txBody>
      </p:sp>
    </p:spTree>
    <p:extLst>
      <p:ext uri="{BB962C8B-B14F-4D97-AF65-F5344CB8AC3E}">
        <p14:creationId xmlns:p14="http://schemas.microsoft.com/office/powerpoint/2010/main" val="4073455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hat is a virus_tf78104741" id="{F41455D0-318E-4830-999E-F58477E69777}" vid="{11D173C9-935D-450A-9A98-C9569F6DA2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a virus</Template>
  <TotalTime>782</TotalTime>
  <Words>2423</Words>
  <Application>Microsoft Office PowerPoint</Application>
  <PresentationFormat>Custom</PresentationFormat>
  <Paragraphs>173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Source Sans Pro</vt:lpstr>
      <vt:lpstr>Source Sans Pro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HW12 Reflection Question 1</vt:lpstr>
      <vt:lpstr>HW12 Reflection Question 2</vt:lpstr>
      <vt:lpstr>HW12 Reflection Question 3</vt:lpstr>
      <vt:lpstr>Interview Question Q4</vt:lpstr>
      <vt:lpstr>Interview Question Q5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Claridge</dc:creator>
  <cp:lastModifiedBy>David Claridge</cp:lastModifiedBy>
  <cp:revision>3</cp:revision>
  <dcterms:created xsi:type="dcterms:W3CDTF">2026-05-06T06:24:17Z</dcterms:created>
  <dcterms:modified xsi:type="dcterms:W3CDTF">2026-05-19T02:35:51Z</dcterms:modified>
</cp:coreProperties>
</file>